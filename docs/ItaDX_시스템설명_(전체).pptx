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842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ItaDX MVP 시스템 설명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AB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아키텍처 · 기술스택 · 폴더구조 · 통신방식 · MVP 기능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446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ItaDX MVP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시스템 아키텍처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ItaDX MVP 시스템 설명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60320" y="822960"/>
            <a:ext cx="9326880" cy="5349240"/>
          </a:xfrm>
          <a:prstGeom prst="rect">
            <a:avLst/>
          </a:prstGeom>
          <a:solidFill>
            <a:srgbClr val="FAFAF8"/>
          </a:solidFill>
          <a:ln w="25400">
            <a:solidFill>
              <a:srgbClr val="2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0" y="968508"/>
            <a:ext cx="4206240" cy="5066531"/>
          </a:xfrm>
          <a:prstGeom prst="rect">
            <a:avLst/>
          </a:prstGeom>
          <a:solidFill>
            <a:srgbClr val="F3F3EE"/>
          </a:solidFill>
          <a:ln w="19050">
            <a:solidFill>
              <a:srgbClr val="44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54480"/>
            <a:ext cx="731520" cy="731520"/>
          </a:xfrm>
          <a:prstGeom prst="ellipse">
            <a:avLst/>
          </a:prstGeom>
          <a:solidFill>
            <a:srgbClr val="607D8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80" y="23042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57196" y="1499616"/>
            <a:ext cx="118872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https://itadx.co.kr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2834640" y="1463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4CAF5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346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60320" y="22128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NGINX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817452"/>
              </p:ext>
            </p:extLst>
          </p:nvPr>
        </p:nvGraphicFramePr>
        <p:xfrm>
          <a:off x="2628458" y="2463422"/>
          <a:ext cx="1554480" cy="5588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React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18.3.1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Next.js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14.2.15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TypeScript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5.4.0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Port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3000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4206240" y="146304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43A047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20624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931920" y="22128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GW</a:t>
            </a:r>
            <a:endParaRPr lang="en-US" sz="9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401091"/>
              </p:ext>
            </p:extLst>
          </p:nvPr>
        </p:nvGraphicFramePr>
        <p:xfrm>
          <a:off x="4206240" y="2453640"/>
          <a:ext cx="1348298" cy="289560"/>
        </p:xfrm>
        <a:graphic>
          <a:graphicData uri="http://schemas.openxmlformats.org/drawingml/2006/table">
            <a:tbl>
              <a:tblPr/>
              <a:tblGrid>
                <a:gridCol w="594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34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9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Nest.js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10.3.0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Port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4003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5669280" y="105156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F980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5669280" y="1051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5394960" y="1801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AUTH</a:t>
            </a:r>
            <a:endParaRPr lang="en-US" sz="900" dirty="0"/>
          </a:p>
        </p:txBody>
      </p:sp>
      <p:graphicFrame>
        <p:nvGraphicFramePr>
          <p:cNvPr id="2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671635"/>
              </p:ext>
            </p:extLst>
          </p:nvPr>
        </p:nvGraphicFramePr>
        <p:xfrm>
          <a:off x="5468112" y="1978963"/>
          <a:ext cx="1554480" cy="4191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Nest.js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10.3.0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JWT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passport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Port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4001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Shape 21"/>
          <p:cNvSpPr/>
          <p:nvPr/>
        </p:nvSpPr>
        <p:spPr>
          <a:xfrm>
            <a:off x="7315200" y="105156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9C27B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7315200" y="1051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800" dirty="0"/>
          </a:p>
        </p:txBody>
      </p:sp>
      <p:sp>
        <p:nvSpPr>
          <p:cNvPr id="28" name="Text 23"/>
          <p:cNvSpPr/>
          <p:nvPr/>
        </p:nvSpPr>
        <p:spPr>
          <a:xfrm>
            <a:off x="7040880" y="1801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AI/ENGINE</a:t>
            </a:r>
            <a:endParaRPr lang="en-US" sz="900" dirty="0"/>
          </a:p>
        </p:txBody>
      </p:sp>
      <p:graphicFrame>
        <p:nvGraphicFramePr>
          <p:cNvPr id="3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203259"/>
              </p:ext>
            </p:extLst>
          </p:nvPr>
        </p:nvGraphicFramePr>
        <p:xfrm>
          <a:off x="7059168" y="1978963"/>
          <a:ext cx="1554480" cy="4191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Python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3.11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FastAPI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0.104.1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Port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8000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Shape 24"/>
          <p:cNvSpPr/>
          <p:nvPr/>
        </p:nvSpPr>
        <p:spPr>
          <a:xfrm>
            <a:off x="5669280" y="256032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2196F3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566928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5394960" y="33101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ADMIN-API</a:t>
            </a:r>
            <a:endParaRPr lang="en-US" sz="900" dirty="0"/>
          </a:p>
        </p:txBody>
      </p:sp>
      <p:graphicFrame>
        <p:nvGraphicFramePr>
          <p:cNvPr id="37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374135"/>
              </p:ext>
            </p:extLst>
          </p:nvPr>
        </p:nvGraphicFramePr>
        <p:xfrm>
          <a:off x="6501207" y="3005305"/>
          <a:ext cx="1554480" cy="4191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Nest.js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10.3.0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TypeORM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0.3.x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Port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4000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4" name="Shape 27"/>
          <p:cNvSpPr/>
          <p:nvPr/>
        </p:nvSpPr>
        <p:spPr>
          <a:xfrm>
            <a:off x="5669280" y="384048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E53935"/>
          </a:solidFill>
          <a:ln w="38100">
            <a:solidFill>
              <a:srgbClr val="FFD60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5669280" y="3840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1800" dirty="0"/>
          </a:p>
        </p:txBody>
      </p:sp>
      <p:sp>
        <p:nvSpPr>
          <p:cNvPr id="36" name="Text 29"/>
          <p:cNvSpPr/>
          <p:nvPr/>
        </p:nvSpPr>
        <p:spPr>
          <a:xfrm>
            <a:off x="5394960" y="467417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ERP-API</a:t>
            </a:r>
            <a:endParaRPr lang="en-US" sz="900" dirty="0"/>
          </a:p>
        </p:txBody>
      </p:sp>
      <p:graphicFrame>
        <p:nvGraphicFramePr>
          <p:cNvPr id="43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242241"/>
              </p:ext>
            </p:extLst>
          </p:nvPr>
        </p:nvGraphicFramePr>
        <p:xfrm>
          <a:off x="5376672" y="4860162"/>
          <a:ext cx="1554480" cy="4191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Nest.js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10.3.0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TypeORM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0.3.x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Port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4002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8" name="Shape 30"/>
          <p:cNvSpPr/>
          <p:nvPr/>
        </p:nvSpPr>
        <p:spPr>
          <a:xfrm>
            <a:off x="6747155" y="3627312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6707236" y="3610389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BF36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BULL QUEUE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BF36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비동기 신용평가</a:t>
            </a:r>
            <a:endParaRPr lang="en-US" sz="700" dirty="0"/>
          </a:p>
        </p:txBody>
      </p:sp>
      <p:sp>
        <p:nvSpPr>
          <p:cNvPr id="40" name="Shape 32"/>
          <p:cNvSpPr/>
          <p:nvPr/>
        </p:nvSpPr>
        <p:spPr>
          <a:xfrm>
            <a:off x="8686800" y="457200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7B1FA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3"/>
          <p:cNvSpPr/>
          <p:nvPr/>
        </p:nvSpPr>
        <p:spPr>
          <a:xfrm>
            <a:off x="868680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800" dirty="0"/>
          </a:p>
        </p:txBody>
      </p:sp>
      <p:sp>
        <p:nvSpPr>
          <p:cNvPr id="42" name="Text 34"/>
          <p:cNvSpPr/>
          <p:nvPr/>
        </p:nvSpPr>
        <p:spPr>
          <a:xfrm>
            <a:off x="8412480" y="53218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평가서버</a:t>
            </a:r>
            <a:endParaRPr lang="en-US" sz="900" dirty="0"/>
          </a:p>
        </p:txBody>
      </p:sp>
      <p:graphicFrame>
        <p:nvGraphicFramePr>
          <p:cNvPr id="4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945381"/>
              </p:ext>
            </p:extLst>
          </p:nvPr>
        </p:nvGraphicFramePr>
        <p:xfrm>
          <a:off x="7841237" y="5518391"/>
          <a:ext cx="1554480" cy="2794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v10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신용평가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V2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마트심사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4" name="Shape 35"/>
          <p:cNvSpPr/>
          <p:nvPr/>
        </p:nvSpPr>
        <p:spPr>
          <a:xfrm>
            <a:off x="10424160" y="1051560"/>
            <a:ext cx="731520" cy="731520"/>
          </a:xfrm>
          <a:prstGeom prst="ellipse">
            <a:avLst/>
          </a:prstGeom>
          <a:solidFill>
            <a:srgbClr val="D32F2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36"/>
          <p:cNvSpPr/>
          <p:nvPr/>
        </p:nvSpPr>
        <p:spPr>
          <a:xfrm>
            <a:off x="10424160" y="1051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800" dirty="0"/>
          </a:p>
        </p:txBody>
      </p:sp>
      <p:sp>
        <p:nvSpPr>
          <p:cNvPr id="46" name="Text 37"/>
          <p:cNvSpPr/>
          <p:nvPr/>
        </p:nvSpPr>
        <p:spPr>
          <a:xfrm>
            <a:off x="10149840" y="1801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REDIS</a:t>
            </a:r>
            <a:endParaRPr lang="en-US" sz="900" dirty="0"/>
          </a:p>
        </p:txBody>
      </p:sp>
      <p:graphicFrame>
        <p:nvGraphicFramePr>
          <p:cNvPr id="1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52572"/>
              </p:ext>
            </p:extLst>
          </p:nvPr>
        </p:nvGraphicFramePr>
        <p:xfrm>
          <a:off x="10058400" y="1995741"/>
          <a:ext cx="1554480" cy="2794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Redis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7-alpine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Port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6379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8" name="Shape 38"/>
          <p:cNvSpPr/>
          <p:nvPr/>
        </p:nvSpPr>
        <p:spPr>
          <a:xfrm>
            <a:off x="10424160" y="3246120"/>
            <a:ext cx="731520" cy="731520"/>
          </a:xfrm>
          <a:prstGeom prst="ellipse">
            <a:avLst/>
          </a:prstGeom>
          <a:solidFill>
            <a:srgbClr val="303F9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39"/>
          <p:cNvSpPr/>
          <p:nvPr/>
        </p:nvSpPr>
        <p:spPr>
          <a:xfrm>
            <a:off x="10424160" y="3246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</a:t>
            </a:r>
            <a:endParaRPr lang="en-US" sz="1400" dirty="0"/>
          </a:p>
        </p:txBody>
      </p:sp>
      <p:sp>
        <p:nvSpPr>
          <p:cNvPr id="50" name="Text 40"/>
          <p:cNvSpPr/>
          <p:nvPr/>
        </p:nvSpPr>
        <p:spPr>
          <a:xfrm>
            <a:off x="10149840" y="39959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POSTGRES</a:t>
            </a:r>
            <a:endParaRPr lang="en-US" sz="900" dirty="0"/>
          </a:p>
        </p:txBody>
      </p:sp>
      <p:graphicFrame>
        <p:nvGraphicFramePr>
          <p:cNvPr id="51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393186"/>
              </p:ext>
            </p:extLst>
          </p:nvPr>
        </p:nvGraphicFramePr>
        <p:xfrm>
          <a:off x="10058400" y="4173523"/>
          <a:ext cx="1554480" cy="2794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Postgres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15-alpine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Port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5555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5432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2" name="Shape 41"/>
          <p:cNvSpPr/>
          <p:nvPr/>
        </p:nvSpPr>
        <p:spPr>
          <a:xfrm>
            <a:off x="731520" y="4572000"/>
            <a:ext cx="731520" cy="731520"/>
          </a:xfrm>
          <a:prstGeom prst="ellipse">
            <a:avLst/>
          </a:prstGeom>
          <a:solidFill>
            <a:srgbClr val="795548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Text 42"/>
          <p:cNvSpPr/>
          <p:nvPr/>
        </p:nvSpPr>
        <p:spPr>
          <a:xfrm>
            <a:off x="73152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2000" dirty="0"/>
          </a:p>
        </p:txBody>
      </p:sp>
      <p:sp>
        <p:nvSpPr>
          <p:cNvPr id="54" name="Text 43"/>
          <p:cNvSpPr/>
          <p:nvPr/>
        </p:nvSpPr>
        <p:spPr>
          <a:xfrm>
            <a:off x="457200" y="53218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22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ITANET</a:t>
            </a:r>
            <a:endParaRPr lang="en-US" sz="900" dirty="0"/>
          </a:p>
        </p:txBody>
      </p:sp>
      <p:sp>
        <p:nvSpPr>
          <p:cNvPr id="57" name="Shape 46"/>
          <p:cNvSpPr/>
          <p:nvPr/>
        </p:nvSpPr>
        <p:spPr>
          <a:xfrm rot="-995240">
            <a:off x="1234440" y="1920240"/>
            <a:ext cx="448429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58" name="Shape 47"/>
          <p:cNvSpPr/>
          <p:nvPr/>
        </p:nvSpPr>
        <p:spPr>
          <a:xfrm rot="196229">
            <a:off x="2176272" y="1792224"/>
            <a:ext cx="641124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59" name="Shape 48"/>
          <p:cNvSpPr/>
          <p:nvPr/>
        </p:nvSpPr>
        <p:spPr>
          <a:xfrm>
            <a:off x="3584448" y="1828800"/>
            <a:ext cx="603504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0" name="Shape 49"/>
          <p:cNvSpPr/>
          <p:nvPr/>
        </p:nvSpPr>
        <p:spPr>
          <a:xfrm rot="-1092509">
            <a:off x="4956048" y="1645920"/>
            <a:ext cx="731577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1" name="Shape 50"/>
          <p:cNvSpPr/>
          <p:nvPr/>
        </p:nvSpPr>
        <p:spPr>
          <a:xfrm rot="3321543">
            <a:off x="5550907" y="1966095"/>
            <a:ext cx="601834" cy="415813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3" name="Shape 52"/>
          <p:cNvSpPr/>
          <p:nvPr/>
        </p:nvSpPr>
        <p:spPr>
          <a:xfrm rot="-217977">
            <a:off x="6414303" y="3463507"/>
            <a:ext cx="293035" cy="435486"/>
          </a:xfrm>
          <a:prstGeom prst="line">
            <a:avLst/>
          </a:prstGeom>
          <a:noFill/>
          <a:ln w="25400">
            <a:solidFill>
              <a:srgbClr val="E65100"/>
            </a:solidFill>
            <a:prstDash val="solid"/>
            <a:tailEnd type="triangle"/>
          </a:ln>
        </p:spPr>
      </p:sp>
      <p:sp>
        <p:nvSpPr>
          <p:cNvPr id="64" name="Shape 53"/>
          <p:cNvSpPr/>
          <p:nvPr/>
        </p:nvSpPr>
        <p:spPr>
          <a:xfrm rot="3282795" flipV="1">
            <a:off x="7849129" y="4045646"/>
            <a:ext cx="1079292" cy="298328"/>
          </a:xfrm>
          <a:prstGeom prst="line">
            <a:avLst/>
          </a:prstGeom>
          <a:noFill/>
          <a:ln w="19050">
            <a:solidFill>
              <a:srgbClr val="E65100"/>
            </a:solidFill>
            <a:prstDash val="solid"/>
            <a:tailEnd type="triangle"/>
          </a:ln>
        </p:spPr>
      </p:sp>
      <p:sp>
        <p:nvSpPr>
          <p:cNvPr id="65" name="Shape 54"/>
          <p:cNvSpPr/>
          <p:nvPr/>
        </p:nvSpPr>
        <p:spPr>
          <a:xfrm>
            <a:off x="6437874" y="1408176"/>
            <a:ext cx="3967998" cy="9144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6" name="Shape 55"/>
          <p:cNvSpPr/>
          <p:nvPr/>
        </p:nvSpPr>
        <p:spPr>
          <a:xfrm rot="470132">
            <a:off x="6409072" y="2929676"/>
            <a:ext cx="4086905" cy="142665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7" name="Shape 56"/>
          <p:cNvSpPr/>
          <p:nvPr/>
        </p:nvSpPr>
        <p:spPr>
          <a:xfrm rot="-547262">
            <a:off x="6497753" y="4241877"/>
            <a:ext cx="2120105" cy="808195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69" name="Shape 58"/>
          <p:cNvSpPr/>
          <p:nvPr/>
        </p:nvSpPr>
        <p:spPr>
          <a:xfrm rot="10707111" flipV="1">
            <a:off x="1476414" y="4636537"/>
            <a:ext cx="4104941" cy="308309"/>
          </a:xfrm>
          <a:prstGeom prst="line">
            <a:avLst/>
          </a:prstGeom>
          <a:noFill/>
          <a:ln w="19050">
            <a:solidFill>
              <a:srgbClr val="4CAF50"/>
            </a:solidFill>
            <a:prstDash val="dash"/>
            <a:tailEnd type="triangle"/>
          </a:ln>
        </p:spPr>
      </p:sp>
      <p:sp>
        <p:nvSpPr>
          <p:cNvPr id="70" name="Shape 59"/>
          <p:cNvSpPr/>
          <p:nvPr/>
        </p:nvSpPr>
        <p:spPr>
          <a:xfrm rot="-3208269" flipV="1">
            <a:off x="611448" y="3254539"/>
            <a:ext cx="2809213" cy="158732"/>
          </a:xfrm>
          <a:prstGeom prst="line">
            <a:avLst/>
          </a:prstGeom>
          <a:noFill/>
          <a:ln w="12700">
            <a:solidFill>
              <a:srgbClr val="999999"/>
            </a:solidFill>
            <a:prstDash val="dash"/>
            <a:tailEnd type="triangle"/>
          </a:ln>
        </p:spPr>
      </p:sp>
      <p:sp>
        <p:nvSpPr>
          <p:cNvPr id="71" name="Shape 60"/>
          <p:cNvSpPr/>
          <p:nvPr/>
        </p:nvSpPr>
        <p:spPr>
          <a:xfrm>
            <a:off x="4892040" y="1234440"/>
            <a:ext cx="59436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2" name="Text 61"/>
          <p:cNvSpPr/>
          <p:nvPr/>
        </p:nvSpPr>
        <p:spPr>
          <a:xfrm>
            <a:off x="4892040" y="123444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JWT 인증</a:t>
            </a:r>
            <a:endParaRPr lang="en-US" sz="600" dirty="0"/>
          </a:p>
        </p:txBody>
      </p:sp>
      <p:sp>
        <p:nvSpPr>
          <p:cNvPr id="73" name="Shape 62"/>
          <p:cNvSpPr/>
          <p:nvPr/>
        </p:nvSpPr>
        <p:spPr>
          <a:xfrm>
            <a:off x="5189220" y="3501263"/>
            <a:ext cx="59436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4" name="Text 63"/>
          <p:cNvSpPr/>
          <p:nvPr/>
        </p:nvSpPr>
        <p:spPr>
          <a:xfrm>
            <a:off x="5178899" y="349300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마트 CRUD</a:t>
            </a:r>
            <a:endParaRPr lang="en-US" sz="600" dirty="0"/>
          </a:p>
        </p:txBody>
      </p:sp>
      <p:sp>
        <p:nvSpPr>
          <p:cNvPr id="75" name="Shape 64"/>
          <p:cNvSpPr/>
          <p:nvPr/>
        </p:nvSpPr>
        <p:spPr>
          <a:xfrm>
            <a:off x="4846320" y="3977640"/>
            <a:ext cx="667512" cy="182880"/>
          </a:xfrm>
          <a:prstGeom prst="roundRect">
            <a:avLst>
              <a:gd name="adj" fmla="val 20000"/>
            </a:avLst>
          </a:prstGeom>
          <a:solidFill>
            <a:srgbClr val="FFF9C4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6" name="Text 65"/>
          <p:cNvSpPr/>
          <p:nvPr/>
        </p:nvSpPr>
        <p:spPr>
          <a:xfrm>
            <a:off x="4846320" y="397764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입고확인</a:t>
            </a:r>
            <a:endParaRPr lang="en-US" sz="600" dirty="0"/>
          </a:p>
        </p:txBody>
      </p:sp>
      <p:sp>
        <p:nvSpPr>
          <p:cNvPr id="87" name="Shape 50">
            <a:extLst>
              <a:ext uri="{FF2B5EF4-FFF2-40B4-BE49-F238E27FC236}">
                <a16:creationId xmlns:a16="http://schemas.microsoft.com/office/drawing/2014/main" id="{B7FB7ADB-FD1F-797B-4E66-782D0374BFFF}"/>
              </a:ext>
            </a:extLst>
          </p:cNvPr>
          <p:cNvSpPr/>
          <p:nvPr/>
        </p:nvSpPr>
        <p:spPr>
          <a:xfrm rot="3321543">
            <a:off x="5701752" y="3517633"/>
            <a:ext cx="272363" cy="186227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88" name="Shape 56">
            <a:extLst>
              <a:ext uri="{FF2B5EF4-FFF2-40B4-BE49-F238E27FC236}">
                <a16:creationId xmlns:a16="http://schemas.microsoft.com/office/drawing/2014/main" id="{B4ECA536-4FE5-5EC1-9394-BAA990399CFB}"/>
              </a:ext>
            </a:extLst>
          </p:cNvPr>
          <p:cNvSpPr/>
          <p:nvPr/>
        </p:nvSpPr>
        <p:spPr>
          <a:xfrm rot="21052738" flipV="1">
            <a:off x="9342260" y="4016197"/>
            <a:ext cx="1168969" cy="440339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89" name="Shape 59">
            <a:extLst>
              <a:ext uri="{FF2B5EF4-FFF2-40B4-BE49-F238E27FC236}">
                <a16:creationId xmlns:a16="http://schemas.microsoft.com/office/drawing/2014/main" id="{37B0F878-1085-A35F-8714-C6027412373C}"/>
              </a:ext>
            </a:extLst>
          </p:cNvPr>
          <p:cNvSpPr/>
          <p:nvPr/>
        </p:nvSpPr>
        <p:spPr>
          <a:xfrm rot="18391731">
            <a:off x="6252330" y="2081275"/>
            <a:ext cx="4376077" cy="1650467"/>
          </a:xfrm>
          <a:prstGeom prst="line">
            <a:avLst/>
          </a:prstGeom>
          <a:noFill/>
          <a:ln w="12700">
            <a:solidFill>
              <a:srgbClr val="999999"/>
            </a:solidFill>
            <a:prstDash val="dash"/>
            <a:tailEnd type="triangle"/>
          </a:ln>
        </p:spPr>
      </p:sp>
      <p:sp>
        <p:nvSpPr>
          <p:cNvPr id="91" name="Shape 49">
            <a:extLst>
              <a:ext uri="{FF2B5EF4-FFF2-40B4-BE49-F238E27FC236}">
                <a16:creationId xmlns:a16="http://schemas.microsoft.com/office/drawing/2014/main" id="{450E8CCB-9403-EDFB-229E-B5B14562E142}"/>
              </a:ext>
            </a:extLst>
          </p:cNvPr>
          <p:cNvSpPr/>
          <p:nvPr/>
        </p:nvSpPr>
        <p:spPr>
          <a:xfrm rot="20507491" flipV="1">
            <a:off x="6285095" y="1856990"/>
            <a:ext cx="1111899" cy="522118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프로그래밍 언어 &amp; 기술스택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ItaDX MVP 시스템 설명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3474720" cy="411480"/>
          </a:xfrm>
          <a:prstGeom prst="rect">
            <a:avLst/>
          </a:prstGeom>
          <a:solidFill>
            <a:srgbClr val="4CAF5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22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프론트엔드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3474720" cy="914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TypeScript 5.4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프레임워크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Next.js 14.2 (React 18)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상태관리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Zustand (로그인)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서버상태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React Query (API캐싱)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HTTP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Axios (JWT 자동첨부)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실시간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socket.io-client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스타일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Tailwind CSS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빌드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Turbopack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206240" y="822960"/>
            <a:ext cx="3474720" cy="411480"/>
          </a:xfrm>
          <a:prstGeom prst="rect">
            <a:avLst/>
          </a:prstGeom>
          <a:solidFill>
            <a:srgbClr val="2196F3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206240" y="822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(Node.js)</a:t>
            </a:r>
            <a:endParaRPr lang="en-US" sz="16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1280160"/>
          <a:ext cx="3474720" cy="914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TypeScript 5.4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프레임워크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Nest.js 10.3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ORM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TypeORM 0.3 (PostgreSQL)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Passport + JWT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비동기큐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Bull Queue (Redis)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WebSocket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socket.io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API문서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Swagger (자동생성)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class-validator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8046720" y="822960"/>
            <a:ext cx="3474720" cy="411480"/>
          </a:xfrm>
          <a:prstGeom prst="rect">
            <a:avLst/>
          </a:prstGeom>
          <a:solidFill>
            <a:srgbClr val="7B1FA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8046720" y="822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엔진 (Python)</a:t>
            </a:r>
            <a:endParaRPr lang="en-US" sz="1600" dirty="0"/>
          </a:p>
        </p:txBody>
      </p:sp>
      <p:graphicFrame>
        <p:nvGraphicFramePr>
          <p:cNvPr id="1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1280160"/>
          <a:ext cx="3474720" cy="914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언어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Python 3.11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프레임워크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FastAPI 0.104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데이터분석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Pandas 2.1 / NumPy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DB연결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psycopg2 (PostgreSQL)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Pydantic 2.5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Uvicorn (ASGI)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테스트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pytest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신용평가/심사 계산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16" name="Text 11"/>
          <p:cNvSpPr/>
          <p:nvPr/>
        </p:nvSpPr>
        <p:spPr>
          <a:xfrm>
            <a:off x="457200" y="4937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인프라 &amp; DB</a:t>
            </a:r>
            <a:endParaRPr lang="en-US" sz="140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349240"/>
          <a:ext cx="11247120" cy="914400"/>
        </p:xfrm>
        <a:graphic>
          <a:graphicData uri="http://schemas.openxmlformats.org/drawingml/2006/table">
            <a:tbl>
              <a:tblPr/>
              <a:tblGrid>
                <a:gridCol w="224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PostgreSQL 15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Redis 7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Docker Compose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Nginx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pnpm workspace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메인DB (11테이블, 28인덱스)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JWT블랙리스트 + 큐 + Rate Limit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서비스 컨테이너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리버스 프록시 + WebSocket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모노레포 패키지 관리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폴더 구조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ItaDX MVP 시스템 설명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126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9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 전체 구조 (★ = 핵심 파일)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36576" cy="5486400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8" name="Shape 6"/>
          <p:cNvSpPr/>
          <p:nvPr/>
        </p:nvSpPr>
        <p:spPr>
          <a:xfrm>
            <a:off x="493776" y="868680"/>
            <a:ext cx="4992624" cy="5486400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868680"/>
            <a:ext cx="4800600" cy="54864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itadx-final/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apps/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admin-web/              ← 프론트엔드 (Next.js)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src/lib/api.ts         API 클라이언트 (JWT 자동첨부)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src/lib/socket.ts      WebSocket 연결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src/hooks/             React Query 훅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├── use-receivings.ts  ★ 입고확인 API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├── use-socket.ts      실시간 이벤트 수신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└── use-dashboard.ts   대시보드 KPI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src/stores/auth-store.ts  로그인 상태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src/app/login/         로그인 화면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src/app/mart/receiving/ ★ 입고확인 화면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src/app/bank/dashboard/ 은행 대시보드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src/components/ui/     공통 UI 컴포넌트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services/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auth-api/               ← JWT 인증 (포트 4001)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src/auth/auth.service.ts  로그인/토큰 발급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admin-api/              ← 마트 CRUD (포트 4000)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src/mart/mart.service.ts  마트 조회/등록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erp-api/                ← ★ 입고확인 (포트 4002)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src/receiving/receiving.service.ts ★★★ 핵심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src/queue/credit-score.processor.ts  큐 Worker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gateway-api/            ← API 라우팅 (포트 4003)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src/proxy/proxy.middleware.ts  URL→서비스 매핑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engine/engine-api/          ← Python AI (포트 8000)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services/v10_service.py    ★ 신용평가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services/v41_service.py    마트 심사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routers/v10_router.py      FastAPI 엔드포인트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libs/                       ← 공통 라이브러리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auth/     JWT Guard, Roles Guard, @CurrentUser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database/ TypeORM Entity (11개 테이블 매핑)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audit/    감사 로그 자동 기록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websocket/ WebSocket Gateway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common/   API 응답 형식, 에러 코드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scripts/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init-db.sql            DB 테이블 생성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seed.sql               테스트 데이터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infra/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docker/docker-compose.yaml  전체 서비스 정의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nginx/nginx.conf            리버스 프록시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943600" y="1097280"/>
            <a:ext cx="5760720" cy="36576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10972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 현황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508760"/>
          <a:ext cx="5760720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프론트엔드 (TypeScript)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51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777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apps/admin-web/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백엔드 서비스 (TypeScript)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51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68개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777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services/*/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엔진 (Python)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51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777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engine/engine-api/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공통 라이브러리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51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777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libs/*/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인프라/설정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51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777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infra/, scripts/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가이드 문서 (GUIDE.md)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51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77777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각 폴더별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D6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226개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AAAA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itadx-mvp.zip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943600" y="4023360"/>
            <a:ext cx="5760720" cy="3657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0" y="40233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 작업 방법</a:t>
            </a:r>
            <a:endParaRPr lang="en-US" sz="14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4434840"/>
          <a:ext cx="5760720" cy="9144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651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GUIDE.md 읽기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폴더의 가이드 문서에 파일별 역할 상세 설명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651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예시 코드 분석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입고확인(receiving.service.ts) 패턴이 기준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651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패턴 복사 확장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GPT에 '이 패턴으로 정산도 만들어줘' 요청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651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libs/ import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Guard, Entity, Audit 등 공통 코드는 그냥 import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 예시 ① : 프론트엔드 → 백엔드 (REST API + JWT)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ItaDX MVP 시스템 설명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59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흐름:  [브라우저]  →  axios + JWT  →  [Nginx]  →  [gateway-api]  →  [erp-api]  →  [PostgreSQL]  →  응답 반환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4416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9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프론트엔드 — 입고 조회 + 확인 (use-receivings.ts)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36576" cy="4572000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10" name="Shape 8"/>
          <p:cNvSpPr/>
          <p:nvPr/>
        </p:nvSpPr>
        <p:spPr>
          <a:xfrm>
            <a:off x="493776" y="1600200"/>
            <a:ext cx="5541264" cy="4572000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00200"/>
            <a:ext cx="5349240" cy="45720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apps/admin-web/src/hooks/use-receivings.ts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프론트에서 입고 목록 조회 + 확인 버튼 처리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★ 입고 목록 조회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useReceivings(params) {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useQuery({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queryKey: ['receivings', params],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queryFn: () =&gt; api.get('/receivings', { params })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.then(r =&gt; r.data),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→ GET /api/receivings?page=1&amp;limit=20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→ Nginx → gateway → erp-api 순서로 전달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★ 입고확인 버튼 클릭 시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useConfirmReceiving() {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useMutation({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mutationFn: (id) =&gt;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api.patch(`/receivings/${id}/confirm`)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.then(r =&gt; r.data),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→ PATCH /api/receivings/abc-123/confirm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Optimistic Update: 서버 응답 전에 UI 먼저 변경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onMutate: async (id) =&gt; {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화면의 해당 항목을 'confirmed'로 즉시 변경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queryClient.setQueriesData(['receivings'], (old) =&gt; ({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...old,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data: old.data.map(r =&gt;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r.id === id ? { ...r, status: 'confirmed' } : r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),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}));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onSettled: () =&gt; {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성공이든 실패든 → 서버 최신 데이터로 교체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queryClient.invalidateQueries(['receivings']);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309360" y="134416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9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— 입고확인 8단계 (receiving.service.ts)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09360" y="1600200"/>
            <a:ext cx="36576" cy="4572000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14" name="Shape 12"/>
          <p:cNvSpPr/>
          <p:nvPr/>
        </p:nvSpPr>
        <p:spPr>
          <a:xfrm>
            <a:off x="6345936" y="1600200"/>
            <a:ext cx="5541264" cy="4572000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600200"/>
            <a:ext cx="5349240" cy="45720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services/erp-api/src/receiving/receiving.service.ts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★★★ 백엔드 입고확인 핵심 로직 (8단계)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confirmReceiving(id, user) {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qr = this.dataSource.createQueryRunner();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qr.startTransaction('SERIALIZABLE');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① 비관적 잠금 (동시 확인 방지)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rec = await qr.manager.findOne(ReceivingEntity, {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where: { id },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lock: { mode: 'pessimistic_write' },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→ SELECT * FROM receivings WHERE id=$1 FOR UPDATE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② 이미 확인됐으면 → 409 에러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(rec.status === 'confirmed')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throw new Error('이미 확인된 입고');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③ 상태 변경 + ④ 감사 로그 + ⑤ 커밋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rec.status = 'confirmed';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rec.confirmedAt = new Date();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qr.manager.save(rec);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qr.query('INSERT INTO audit_logs ...');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qr.commitTransaction();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⑥ 비동기: 신용평가 재계산 (Bull Queue)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this.creditQueue.add('rescore', {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merchantId: rec.merchantId,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⑦ 실시간: 은행 담당자 알림 (WebSocket)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this.wsGateway.notifyBank('receiving:confirmed', {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receivingId: id, amount: rec.totalAmount,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 success: true, data: rec };  // ⑧ 응답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(e) {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qr.rollbackTransaction();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e;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 예시 ② : WebSocket 실시간 알림 &amp; Bull Queue 비동기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ItaDX MVP 시스템 설명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5577840" cy="4114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229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백엔드 → 프론트 (WebSocket 실시간)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822960"/>
            <a:ext cx="5577840" cy="41148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8229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백엔드 → AI 엔진 (Bull Queue 비동기)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25272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9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— WebSocket 이벤트 발행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508760"/>
            <a:ext cx="36576" cy="2011680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" y="1508760"/>
            <a:ext cx="5541264" cy="2011680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508760"/>
            <a:ext cx="5349240" cy="20116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libs/websocket/src/gateways/notification.gateway.ts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백엔드: 역할별 room에 이벤트 push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@WebSocketGateway({ cors: { origin: '*' } })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class NotificationGateway {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@WebSocketServer() server: Server;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handleConnection(client: Socket) {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user = JWT에서_추출(client.handshake.auth.token);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client.join(`role:${user.role}`); // bank/mart/admin 방 배정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notifyBank(event: string, data: any) {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this.server.to('role:bank').emit(event, data);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→ 은행 사용자 전원에게 즉시 전달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57200" y="363016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9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 — 이벤트 수신 → 화면 자동 갱신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36576" cy="2194560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16" name="Shape 14"/>
          <p:cNvSpPr/>
          <p:nvPr/>
        </p:nvSpPr>
        <p:spPr>
          <a:xfrm>
            <a:off x="493776" y="3886200"/>
            <a:ext cx="5541264" cy="2194560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886200"/>
            <a:ext cx="5349240" cy="2194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apps/admin-web/src/hooks/use-socket.ts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프론트: 이벤트 수신 → 화면 자동 갱신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useSocket() {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useEffect(() =&gt; {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socket = getSocket();  // JWT 인증된 WebSocket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입고확인 이벤트 수신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socket.on('receiving:confirmed', () =&gt; {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React Query 캐시 무효화 → 자동 재조회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queryClient.invalidateQueries(['receivings']);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queryClient.invalidateQueries(['dashboard']);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→ 새로고침 없이 화면이 바로 갱신!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() =&gt; { socket.off('receiving:confirmed'); };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 []);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309360" y="125272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9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 Worker — Redis 큐 → Python HTTP 호출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09360" y="1508760"/>
            <a:ext cx="36576" cy="2011680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20" name="Shape 18"/>
          <p:cNvSpPr/>
          <p:nvPr/>
        </p:nvSpPr>
        <p:spPr>
          <a:xfrm>
            <a:off x="6345936" y="1508760"/>
            <a:ext cx="5541264" cy="2011680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508760"/>
            <a:ext cx="5349240" cy="20116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services/erp-api/src/queue/credit-score.processor.ts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Worker: Redis 큐에서 job 꺼내서 Python 엔진 호출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@Processor('credit-score')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class CreditScoreProcessor {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@Process('rescore')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handleRescore(job: Job) {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{ merchantId } = job.data;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Nest.js → Python FastAPI (HTTP 호출)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response = await axios.post(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'http://engine-api:8000/api/v10/score',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merchant_id: merchantId }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response.data;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실패 시 자동 재시도: 5초 → 10초 → 20초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309360" y="363016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59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 AI — Pandas 신용평가 계산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09360" y="3886200"/>
            <a:ext cx="36576" cy="2194560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24" name="Shape 22"/>
          <p:cNvSpPr/>
          <p:nvPr/>
        </p:nvSpPr>
        <p:spPr>
          <a:xfrm>
            <a:off x="6345936" y="3886200"/>
            <a:ext cx="5541264" cy="2194560"/>
          </a:xfrm>
          <a:prstGeom prst="rect">
            <a:avLst/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3886200"/>
            <a:ext cx="5349240" cy="2194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engine/engine-api/services/v10_service.py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Python: Pandas로 신용점수 계산 (1000점 만점)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score_merchant(merchant_id):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DB에서 최근 6개월 입고 데이터 (Pandas)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receivings = pd.read_sql(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"SELECT total_amount, status FROM receivings "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"WHERE merchant_id = %s", conn, params=(merchant_id,)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4개 Factor로 점수 계산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volume_score    = min(300, total / 1_000_000 * 30)  # 300점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confirm_score   = confirm_rate * 250                 # 250점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settle_score    = settle_rate * 250                  # 250점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stability_score = max(0, 200 * (1 - cv))             # 200점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int(volume + confirm + settle + stability)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grade = 'A' if total &gt;= 800 else 'B' if total &gt;= 600 ...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 'score': total, 'grade': grade }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1E2A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MVP 버전 주요 기능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583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ItaDX MVP 시스템 설명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3657600" cy="411480"/>
          </a:xfrm>
          <a:prstGeom prst="rect">
            <a:avLst/>
          </a:prstGeom>
          <a:solidFill>
            <a:srgbClr val="2E5984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822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 (bank)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3657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71600"/>
            <a:ext cx="54864" cy="749808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입고 건수/금액, 확인률, 마트별 KPI 현황판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212848"/>
            <a:ext cx="3657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12848"/>
            <a:ext cx="54864" cy="749808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258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마트 관리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560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마트 목록 조회, 상세 정보, 지점 드릴다운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054096"/>
            <a:ext cx="3657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54096"/>
            <a:ext cx="54864" cy="749808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0998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가맹점 관리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4015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가맹점 목록, 신용등급 조회, 리스크 모니터링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895344"/>
            <a:ext cx="3657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95344"/>
            <a:ext cx="54864" cy="749808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9410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알림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42428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WebSocket으로 입고확인 즉시 수신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736592"/>
            <a:ext cx="3657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736592"/>
            <a:ext cx="54864" cy="749808"/>
          </a:xfrm>
          <a:prstGeom prst="rect">
            <a:avLst/>
          </a:prstGeom>
          <a:solidFill>
            <a:srgbClr val="2E5984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782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 현황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50840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마트별/지점별 위험도 대시보드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251960" y="822960"/>
            <a:ext cx="3657600" cy="411480"/>
          </a:xfrm>
          <a:prstGeom prst="rect">
            <a:avLst/>
          </a:prstGeom>
          <a:solidFill>
            <a:srgbClr val="4CAF5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251960" y="822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마트 (mart)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251960" y="1371600"/>
            <a:ext cx="3657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51960" y="1371600"/>
            <a:ext cx="54864" cy="74980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2" name="Text 30"/>
          <p:cNvSpPr/>
          <p:nvPr/>
        </p:nvSpPr>
        <p:spPr>
          <a:xfrm>
            <a:off x="438912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입고확인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38912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입고 목록 조회 → 확인 버튼 → 상태 변경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251960" y="2212848"/>
            <a:ext cx="3657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251960" y="2212848"/>
            <a:ext cx="54864" cy="74980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6" name="Text 34"/>
          <p:cNvSpPr/>
          <p:nvPr/>
        </p:nvSpPr>
        <p:spPr>
          <a:xfrm>
            <a:off x="4389120" y="2258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지점 관리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389120" y="2560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소속 지점 목록, 가맹점 현황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251960" y="3054096"/>
            <a:ext cx="3657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251960" y="3054096"/>
            <a:ext cx="54864" cy="74980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0" name="Text 38"/>
          <p:cNvSpPr/>
          <p:nvPr/>
        </p:nvSpPr>
        <p:spPr>
          <a:xfrm>
            <a:off x="4389120" y="30998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정산 조회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389120" y="34015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정산 내역 확인, 정산 완료 처리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251960" y="3895344"/>
            <a:ext cx="3657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251960" y="3895344"/>
            <a:ext cx="54864" cy="74980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4" name="Text 42"/>
          <p:cNvSpPr/>
          <p:nvPr/>
        </p:nvSpPr>
        <p:spPr>
          <a:xfrm>
            <a:off x="4389120" y="39410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입고 등록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389120" y="42428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입고 데이터 등록 (수동)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251960" y="4736592"/>
            <a:ext cx="3657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251960" y="4736592"/>
            <a:ext cx="54864" cy="74980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8" name="Text 46"/>
          <p:cNvSpPr/>
          <p:nvPr/>
        </p:nvSpPr>
        <p:spPr>
          <a:xfrm>
            <a:off x="4389120" y="4782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수신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389120" y="50840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완료/정산 완료 실시간 알림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138160" y="822960"/>
            <a:ext cx="3657600" cy="411480"/>
          </a:xfrm>
          <a:prstGeom prst="rect">
            <a:avLst/>
          </a:prstGeom>
          <a:solidFill>
            <a:srgbClr val="E6510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8138160" y="822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관리자 (admin)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138160" y="1371600"/>
            <a:ext cx="3657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138160" y="1371600"/>
            <a:ext cx="54864" cy="7498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54" name="Text 52"/>
          <p:cNvSpPr/>
          <p:nvPr/>
        </p:nvSpPr>
        <p:spPr>
          <a:xfrm>
            <a:off x="827532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관리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27532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생성/수정/삭제, 역할 배정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138160" y="2212848"/>
            <a:ext cx="3657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8138160" y="2212848"/>
            <a:ext cx="54864" cy="7498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58" name="Text 56"/>
          <p:cNvSpPr/>
          <p:nvPr/>
        </p:nvSpPr>
        <p:spPr>
          <a:xfrm>
            <a:off x="8275320" y="2258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 로그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275320" y="2560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시스템 활동 기록 조회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138160" y="3054096"/>
            <a:ext cx="3657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8138160" y="3054096"/>
            <a:ext cx="54864" cy="7498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2" name="Text 60"/>
          <p:cNvSpPr/>
          <p:nvPr/>
        </p:nvSpPr>
        <p:spPr>
          <a:xfrm>
            <a:off x="8275320" y="30998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대시보드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8275320" y="34015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은행+마트 통합 KPI 현황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138160" y="3895344"/>
            <a:ext cx="3657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8138160" y="3895344"/>
            <a:ext cx="54864" cy="7498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66" name="Text 64"/>
          <p:cNvSpPr/>
          <p:nvPr/>
        </p:nvSpPr>
        <p:spPr>
          <a:xfrm>
            <a:off x="8275320" y="39410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설정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8275320" y="42428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변수, 서비스 상태 관리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138160" y="4736592"/>
            <a:ext cx="3657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8138160" y="4736592"/>
            <a:ext cx="54864" cy="74980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70" name="Text 68"/>
          <p:cNvSpPr/>
          <p:nvPr/>
        </p:nvSpPr>
        <p:spPr>
          <a:xfrm>
            <a:off x="8275320" y="47823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관리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8275320" y="50840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마트/지점/가맹점 마스터 데이터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65760" y="5669280"/>
            <a:ext cx="11430000" cy="640080"/>
          </a:xfrm>
          <a:prstGeom prst="rect">
            <a:avLst/>
          </a:prstGeom>
          <a:solidFill>
            <a:srgbClr val="FFF8E1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65760" y="566928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51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MVP 핵심 흐름:  마트 입고확인  →  DB 트랜잭션  →  Bull Queue로 신용평가 비동기 요청  →  WebSocket으로 은행 실시간 알림  →  Python 엔진 점수 계산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2266</Words>
  <Application>Microsoft Office PowerPoint</Application>
  <PresentationFormat>와이드스크린</PresentationFormat>
  <Paragraphs>439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ItaDX MVP 시스템 설명</dc:title>
  <dc:subject>PptxGenJS Presentation</dc:subject>
  <dc:creator>ItaDX</dc:creator>
  <cp:lastModifiedBy>영석 권</cp:lastModifiedBy>
  <cp:revision>4</cp:revision>
  <dcterms:created xsi:type="dcterms:W3CDTF">2026-02-26T03:13:52Z</dcterms:created>
  <dcterms:modified xsi:type="dcterms:W3CDTF">2026-02-26T03:43:46Z</dcterms:modified>
</cp:coreProperties>
</file>