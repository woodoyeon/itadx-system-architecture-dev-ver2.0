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7" r:id="rId2"/>
    <p:sldId id="258" r:id="rId3"/>
    <p:sldId id="259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3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88421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0"/>
          </a:xfrm>
          <a:prstGeom prst="rect">
            <a:avLst/>
          </a:prstGeom>
          <a:solidFill>
            <a:srgbClr val="1E2A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시스템 아키텍처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2E5984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583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ItaDX</a:t>
            </a:r>
            <a:r>
              <a:rPr lang="en-US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800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</a:t>
            </a:r>
            <a:r>
              <a:rPr lang="en-US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설명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560320" y="822960"/>
            <a:ext cx="9326880" cy="5349240"/>
          </a:xfrm>
          <a:prstGeom prst="rect">
            <a:avLst/>
          </a:prstGeom>
          <a:solidFill>
            <a:srgbClr val="FAFAF8"/>
          </a:solidFill>
          <a:ln w="25400">
            <a:solidFill>
              <a:srgbClr val="22222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0" y="968508"/>
            <a:ext cx="4206240" cy="5066531"/>
          </a:xfrm>
          <a:prstGeom prst="rect">
            <a:avLst/>
          </a:prstGeom>
          <a:solidFill>
            <a:srgbClr val="F3F3EE"/>
          </a:solidFill>
          <a:ln w="19050">
            <a:solidFill>
              <a:srgbClr val="4444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554480"/>
            <a:ext cx="731520" cy="731520"/>
          </a:xfrm>
          <a:prstGeom prst="ellipse">
            <a:avLst/>
          </a:prstGeom>
          <a:solidFill>
            <a:srgbClr val="607D8B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82880" y="230428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USERS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257196" y="1499616"/>
            <a:ext cx="118872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https://itadx.co.kr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2834640" y="1463040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4CAF50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834640" y="1463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560320" y="22128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NGINX</a:t>
            </a:r>
            <a:endParaRPr lang="en-US" sz="9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6817452"/>
              </p:ext>
            </p:extLst>
          </p:nvPr>
        </p:nvGraphicFramePr>
        <p:xfrm>
          <a:off x="2628458" y="2463422"/>
          <a:ext cx="1554480" cy="558800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React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555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18.3.1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Next.js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555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14.2.15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TypeScript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555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5.4.0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Port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555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3000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" name="Shape 15"/>
          <p:cNvSpPr/>
          <p:nvPr/>
        </p:nvSpPr>
        <p:spPr>
          <a:xfrm>
            <a:off x="4206240" y="1463040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43A047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4206240" y="1463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GW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3931920" y="22128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 GW</a:t>
            </a:r>
            <a:endParaRPr lang="en-US" sz="90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2401091"/>
              </p:ext>
            </p:extLst>
          </p:nvPr>
        </p:nvGraphicFramePr>
        <p:xfrm>
          <a:off x="4206240" y="2453640"/>
          <a:ext cx="1348298" cy="289560"/>
        </p:xfrm>
        <a:graphic>
          <a:graphicData uri="http://schemas.openxmlformats.org/drawingml/2006/table">
            <a:tbl>
              <a:tblPr/>
              <a:tblGrid>
                <a:gridCol w="5948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34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98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Nest.js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555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10.3.0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Port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555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4003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" name="Shape 18"/>
          <p:cNvSpPr/>
          <p:nvPr/>
        </p:nvSpPr>
        <p:spPr>
          <a:xfrm>
            <a:off x="5669280" y="1051560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FF9800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19"/>
          <p:cNvSpPr/>
          <p:nvPr/>
        </p:nvSpPr>
        <p:spPr>
          <a:xfrm>
            <a:off x="5669280" y="1051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🔐</a:t>
            </a:r>
            <a:endParaRPr lang="en-US" sz="1800" dirty="0"/>
          </a:p>
        </p:txBody>
      </p:sp>
      <p:sp>
        <p:nvSpPr>
          <p:cNvPr id="24" name="Text 20"/>
          <p:cNvSpPr/>
          <p:nvPr/>
        </p:nvSpPr>
        <p:spPr>
          <a:xfrm>
            <a:off x="5394960" y="18013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AUTH</a:t>
            </a:r>
            <a:endParaRPr lang="en-US" sz="900" dirty="0"/>
          </a:p>
        </p:txBody>
      </p:sp>
      <p:graphicFrame>
        <p:nvGraphicFramePr>
          <p:cNvPr id="2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7671635"/>
              </p:ext>
            </p:extLst>
          </p:nvPr>
        </p:nvGraphicFramePr>
        <p:xfrm>
          <a:off x="5468112" y="1978963"/>
          <a:ext cx="1554480" cy="419100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Nest.js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555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10.3.0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JWT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555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passport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Port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555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4001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6" name="Shape 21"/>
          <p:cNvSpPr/>
          <p:nvPr/>
        </p:nvSpPr>
        <p:spPr>
          <a:xfrm>
            <a:off x="7315200" y="1051560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9C27B0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2"/>
          <p:cNvSpPr/>
          <p:nvPr/>
        </p:nvSpPr>
        <p:spPr>
          <a:xfrm>
            <a:off x="7315200" y="1051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</a:t>
            </a:r>
            <a:endParaRPr lang="en-US" sz="1800" dirty="0"/>
          </a:p>
        </p:txBody>
      </p:sp>
      <p:sp>
        <p:nvSpPr>
          <p:cNvPr id="28" name="Text 23"/>
          <p:cNvSpPr/>
          <p:nvPr/>
        </p:nvSpPr>
        <p:spPr>
          <a:xfrm>
            <a:off x="7040880" y="18013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AI/ENGINE</a:t>
            </a:r>
            <a:endParaRPr lang="en-US" sz="900" dirty="0"/>
          </a:p>
        </p:txBody>
      </p:sp>
      <p:graphicFrame>
        <p:nvGraphicFramePr>
          <p:cNvPr id="33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4203259"/>
              </p:ext>
            </p:extLst>
          </p:nvPr>
        </p:nvGraphicFramePr>
        <p:xfrm>
          <a:off x="7059168" y="1978963"/>
          <a:ext cx="1554480" cy="419100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Python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555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3.11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FastAPI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555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0.104.1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Port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555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8000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0" name="Shape 24"/>
          <p:cNvSpPr/>
          <p:nvPr/>
        </p:nvSpPr>
        <p:spPr>
          <a:xfrm>
            <a:off x="5669280" y="2560320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2196F3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Text 25"/>
          <p:cNvSpPr/>
          <p:nvPr/>
        </p:nvSpPr>
        <p:spPr>
          <a:xfrm>
            <a:off x="566928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</a:t>
            </a:r>
            <a:endParaRPr lang="en-US" sz="1800" dirty="0"/>
          </a:p>
        </p:txBody>
      </p:sp>
      <p:sp>
        <p:nvSpPr>
          <p:cNvPr id="32" name="Text 26"/>
          <p:cNvSpPr/>
          <p:nvPr/>
        </p:nvSpPr>
        <p:spPr>
          <a:xfrm>
            <a:off x="5394960" y="33101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ADMIN-API</a:t>
            </a:r>
            <a:endParaRPr lang="en-US" sz="900" dirty="0"/>
          </a:p>
        </p:txBody>
      </p:sp>
      <p:graphicFrame>
        <p:nvGraphicFramePr>
          <p:cNvPr id="37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6374135"/>
              </p:ext>
            </p:extLst>
          </p:nvPr>
        </p:nvGraphicFramePr>
        <p:xfrm>
          <a:off x="6501207" y="3005305"/>
          <a:ext cx="1554480" cy="419100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Nest.js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555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10.3.0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TypeORM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555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0.3.x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Port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555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4000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4" name="Shape 27"/>
          <p:cNvSpPr/>
          <p:nvPr/>
        </p:nvSpPr>
        <p:spPr>
          <a:xfrm>
            <a:off x="5669280" y="3840480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E53935"/>
          </a:solidFill>
          <a:ln w="38100">
            <a:solidFill>
              <a:srgbClr val="FFD60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Text 28"/>
          <p:cNvSpPr/>
          <p:nvPr/>
        </p:nvSpPr>
        <p:spPr>
          <a:xfrm>
            <a:off x="5669280" y="3840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</a:t>
            </a:r>
            <a:endParaRPr lang="en-US" sz="1800" dirty="0"/>
          </a:p>
        </p:txBody>
      </p:sp>
      <p:sp>
        <p:nvSpPr>
          <p:cNvPr id="36" name="Text 29"/>
          <p:cNvSpPr/>
          <p:nvPr/>
        </p:nvSpPr>
        <p:spPr>
          <a:xfrm>
            <a:off x="5394960" y="467417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ERP-API</a:t>
            </a:r>
            <a:endParaRPr lang="en-US" sz="900" dirty="0"/>
          </a:p>
        </p:txBody>
      </p:sp>
      <p:graphicFrame>
        <p:nvGraphicFramePr>
          <p:cNvPr id="43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8242241"/>
              </p:ext>
            </p:extLst>
          </p:nvPr>
        </p:nvGraphicFramePr>
        <p:xfrm>
          <a:off x="5376672" y="4860162"/>
          <a:ext cx="1554480" cy="419100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Nest.js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555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10.3.0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TypeORM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555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0.3.x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Port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555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4002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8" name="Shape 30"/>
          <p:cNvSpPr/>
          <p:nvPr/>
        </p:nvSpPr>
        <p:spPr>
          <a:xfrm>
            <a:off x="6747155" y="3627312"/>
            <a:ext cx="1188720" cy="384048"/>
          </a:xfrm>
          <a:prstGeom prst="roundRect">
            <a:avLst>
              <a:gd name="adj" fmla="val 9524"/>
            </a:avLst>
          </a:prstGeom>
          <a:solidFill>
            <a:srgbClr val="FFF3E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39" name="Text 31"/>
          <p:cNvSpPr/>
          <p:nvPr/>
        </p:nvSpPr>
        <p:spPr>
          <a:xfrm>
            <a:off x="6707236" y="3610389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BF36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BULL QUEUE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BF36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비동기 신용평가</a:t>
            </a:r>
            <a:endParaRPr lang="en-US" sz="700" dirty="0"/>
          </a:p>
        </p:txBody>
      </p:sp>
      <p:sp>
        <p:nvSpPr>
          <p:cNvPr id="40" name="Shape 32"/>
          <p:cNvSpPr/>
          <p:nvPr/>
        </p:nvSpPr>
        <p:spPr>
          <a:xfrm>
            <a:off x="8686800" y="4572000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7B1FA2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Text 33"/>
          <p:cNvSpPr/>
          <p:nvPr/>
        </p:nvSpPr>
        <p:spPr>
          <a:xfrm>
            <a:off x="8686800" y="4572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1800" dirty="0"/>
          </a:p>
        </p:txBody>
      </p:sp>
      <p:sp>
        <p:nvSpPr>
          <p:cNvPr id="42" name="Text 34"/>
          <p:cNvSpPr/>
          <p:nvPr/>
        </p:nvSpPr>
        <p:spPr>
          <a:xfrm>
            <a:off x="8412480" y="532180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평가서버</a:t>
            </a:r>
            <a:endParaRPr lang="en-US" sz="900" dirty="0"/>
          </a:p>
        </p:txBody>
      </p:sp>
      <p:graphicFrame>
        <p:nvGraphicFramePr>
          <p:cNvPr id="4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5945381"/>
              </p:ext>
            </p:extLst>
          </p:nvPr>
        </p:nvGraphicFramePr>
        <p:xfrm>
          <a:off x="7841237" y="5518391"/>
          <a:ext cx="1554480" cy="279400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v10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555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신용평가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V2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555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마트심사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4" name="Shape 35"/>
          <p:cNvSpPr/>
          <p:nvPr/>
        </p:nvSpPr>
        <p:spPr>
          <a:xfrm>
            <a:off x="10424160" y="1051560"/>
            <a:ext cx="731520" cy="731520"/>
          </a:xfrm>
          <a:prstGeom prst="ellipse">
            <a:avLst/>
          </a:prstGeom>
          <a:solidFill>
            <a:srgbClr val="D32F2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5" name="Text 36"/>
          <p:cNvSpPr/>
          <p:nvPr/>
        </p:nvSpPr>
        <p:spPr>
          <a:xfrm>
            <a:off x="10424160" y="1051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1800" dirty="0"/>
          </a:p>
        </p:txBody>
      </p:sp>
      <p:sp>
        <p:nvSpPr>
          <p:cNvPr id="46" name="Text 37"/>
          <p:cNvSpPr/>
          <p:nvPr/>
        </p:nvSpPr>
        <p:spPr>
          <a:xfrm>
            <a:off x="10149840" y="18013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REDIS</a:t>
            </a:r>
            <a:endParaRPr lang="en-US" sz="900" dirty="0"/>
          </a:p>
        </p:txBody>
      </p:sp>
      <p:graphicFrame>
        <p:nvGraphicFramePr>
          <p:cNvPr id="17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552572"/>
              </p:ext>
            </p:extLst>
          </p:nvPr>
        </p:nvGraphicFramePr>
        <p:xfrm>
          <a:off x="10058400" y="1995741"/>
          <a:ext cx="1554480" cy="279400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Redis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555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7-alpine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Port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555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6379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8" name="Shape 38"/>
          <p:cNvSpPr/>
          <p:nvPr/>
        </p:nvSpPr>
        <p:spPr>
          <a:xfrm>
            <a:off x="10424160" y="3246120"/>
            <a:ext cx="731520" cy="731520"/>
          </a:xfrm>
          <a:prstGeom prst="ellipse">
            <a:avLst/>
          </a:prstGeom>
          <a:solidFill>
            <a:srgbClr val="303F9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9" name="Text 39"/>
          <p:cNvSpPr/>
          <p:nvPr/>
        </p:nvSpPr>
        <p:spPr>
          <a:xfrm>
            <a:off x="10424160" y="3246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PG</a:t>
            </a:r>
            <a:endParaRPr lang="en-US" sz="1400" dirty="0"/>
          </a:p>
        </p:txBody>
      </p:sp>
      <p:sp>
        <p:nvSpPr>
          <p:cNvPr id="50" name="Text 40"/>
          <p:cNvSpPr/>
          <p:nvPr/>
        </p:nvSpPr>
        <p:spPr>
          <a:xfrm>
            <a:off x="10149840" y="39959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POSTGRES</a:t>
            </a:r>
            <a:endParaRPr lang="en-US" sz="900" dirty="0"/>
          </a:p>
        </p:txBody>
      </p:sp>
      <p:graphicFrame>
        <p:nvGraphicFramePr>
          <p:cNvPr id="51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6393186"/>
              </p:ext>
            </p:extLst>
          </p:nvPr>
        </p:nvGraphicFramePr>
        <p:xfrm>
          <a:off x="10058400" y="4173523"/>
          <a:ext cx="1554480" cy="279400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Postgres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555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15-alpine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Port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555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5432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2" name="Shape 41"/>
          <p:cNvSpPr/>
          <p:nvPr/>
        </p:nvSpPr>
        <p:spPr>
          <a:xfrm>
            <a:off x="731520" y="4572000"/>
            <a:ext cx="731520" cy="731520"/>
          </a:xfrm>
          <a:prstGeom prst="ellipse">
            <a:avLst/>
          </a:prstGeom>
          <a:solidFill>
            <a:srgbClr val="795548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3" name="Text 42"/>
          <p:cNvSpPr/>
          <p:nvPr/>
        </p:nvSpPr>
        <p:spPr>
          <a:xfrm>
            <a:off x="731520" y="4572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</a:t>
            </a:r>
            <a:endParaRPr lang="en-US" sz="2000" dirty="0"/>
          </a:p>
        </p:txBody>
      </p:sp>
      <p:sp>
        <p:nvSpPr>
          <p:cNvPr id="54" name="Text 43"/>
          <p:cNvSpPr/>
          <p:nvPr/>
        </p:nvSpPr>
        <p:spPr>
          <a:xfrm>
            <a:off x="457200" y="532180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ITANET</a:t>
            </a:r>
            <a:endParaRPr lang="en-US" sz="900" dirty="0"/>
          </a:p>
        </p:txBody>
      </p:sp>
      <p:sp>
        <p:nvSpPr>
          <p:cNvPr id="57" name="Shape 46"/>
          <p:cNvSpPr/>
          <p:nvPr/>
        </p:nvSpPr>
        <p:spPr>
          <a:xfrm rot="-995240">
            <a:off x="1234440" y="1920240"/>
            <a:ext cx="448429" cy="0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  <a:tailEnd type="triangle"/>
          </a:ln>
        </p:spPr>
      </p:sp>
      <p:sp>
        <p:nvSpPr>
          <p:cNvPr id="58" name="Shape 47"/>
          <p:cNvSpPr/>
          <p:nvPr/>
        </p:nvSpPr>
        <p:spPr>
          <a:xfrm rot="196229">
            <a:off x="2176272" y="1792224"/>
            <a:ext cx="641124" cy="0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  <a:tailEnd type="triangle"/>
          </a:ln>
        </p:spPr>
      </p:sp>
      <p:sp>
        <p:nvSpPr>
          <p:cNvPr id="59" name="Shape 48"/>
          <p:cNvSpPr/>
          <p:nvPr/>
        </p:nvSpPr>
        <p:spPr>
          <a:xfrm>
            <a:off x="3584448" y="1828800"/>
            <a:ext cx="603504" cy="0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  <a:tailEnd type="triangle"/>
          </a:ln>
        </p:spPr>
      </p:sp>
      <p:sp>
        <p:nvSpPr>
          <p:cNvPr id="60" name="Shape 49"/>
          <p:cNvSpPr/>
          <p:nvPr/>
        </p:nvSpPr>
        <p:spPr>
          <a:xfrm rot="-1092509">
            <a:off x="4956048" y="1645920"/>
            <a:ext cx="731577" cy="0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  <a:tailEnd type="triangle"/>
          </a:ln>
        </p:spPr>
      </p:sp>
      <p:sp>
        <p:nvSpPr>
          <p:cNvPr id="61" name="Shape 50"/>
          <p:cNvSpPr/>
          <p:nvPr/>
        </p:nvSpPr>
        <p:spPr>
          <a:xfrm rot="3321543">
            <a:off x="5550907" y="1966095"/>
            <a:ext cx="601834" cy="415813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  <a:tailEnd type="triangle"/>
          </a:ln>
        </p:spPr>
      </p:sp>
      <p:sp>
        <p:nvSpPr>
          <p:cNvPr id="63" name="Shape 52"/>
          <p:cNvSpPr/>
          <p:nvPr/>
        </p:nvSpPr>
        <p:spPr>
          <a:xfrm rot="-217977">
            <a:off x="6414303" y="3463507"/>
            <a:ext cx="293035" cy="435486"/>
          </a:xfrm>
          <a:prstGeom prst="line">
            <a:avLst/>
          </a:prstGeom>
          <a:noFill/>
          <a:ln w="25400">
            <a:solidFill>
              <a:srgbClr val="E65100"/>
            </a:solidFill>
            <a:prstDash val="solid"/>
            <a:tailEnd type="triangle"/>
          </a:ln>
        </p:spPr>
      </p:sp>
      <p:sp>
        <p:nvSpPr>
          <p:cNvPr id="64" name="Shape 53"/>
          <p:cNvSpPr/>
          <p:nvPr/>
        </p:nvSpPr>
        <p:spPr>
          <a:xfrm rot="3282795" flipV="1">
            <a:off x="7849129" y="4045646"/>
            <a:ext cx="1079292" cy="298328"/>
          </a:xfrm>
          <a:prstGeom prst="line">
            <a:avLst/>
          </a:prstGeom>
          <a:noFill/>
          <a:ln w="19050">
            <a:solidFill>
              <a:srgbClr val="E65100"/>
            </a:solidFill>
            <a:prstDash val="solid"/>
            <a:tailEnd type="triangle"/>
          </a:ln>
        </p:spPr>
      </p:sp>
      <p:sp>
        <p:nvSpPr>
          <p:cNvPr id="65" name="Shape 54"/>
          <p:cNvSpPr/>
          <p:nvPr/>
        </p:nvSpPr>
        <p:spPr>
          <a:xfrm>
            <a:off x="6437874" y="1408176"/>
            <a:ext cx="3967998" cy="9144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  <a:tailEnd type="triangle"/>
          </a:ln>
        </p:spPr>
      </p:sp>
      <p:sp>
        <p:nvSpPr>
          <p:cNvPr id="66" name="Shape 55"/>
          <p:cNvSpPr/>
          <p:nvPr/>
        </p:nvSpPr>
        <p:spPr>
          <a:xfrm rot="470132">
            <a:off x="6409072" y="2929676"/>
            <a:ext cx="4086905" cy="142665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  <a:tailEnd type="triangle"/>
          </a:ln>
        </p:spPr>
      </p:sp>
      <p:sp>
        <p:nvSpPr>
          <p:cNvPr id="67" name="Shape 56"/>
          <p:cNvSpPr/>
          <p:nvPr/>
        </p:nvSpPr>
        <p:spPr>
          <a:xfrm rot="-547262">
            <a:off x="6497753" y="4241877"/>
            <a:ext cx="2120105" cy="808195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  <a:tailEnd type="triangle"/>
          </a:ln>
        </p:spPr>
      </p:sp>
      <p:sp>
        <p:nvSpPr>
          <p:cNvPr id="69" name="Shape 58"/>
          <p:cNvSpPr/>
          <p:nvPr/>
        </p:nvSpPr>
        <p:spPr>
          <a:xfrm rot="10707111" flipV="1">
            <a:off x="1476414" y="4636537"/>
            <a:ext cx="4104941" cy="308309"/>
          </a:xfrm>
          <a:prstGeom prst="line">
            <a:avLst/>
          </a:prstGeom>
          <a:noFill/>
          <a:ln w="19050">
            <a:solidFill>
              <a:srgbClr val="4CAF50"/>
            </a:solidFill>
            <a:prstDash val="dash"/>
            <a:tailEnd type="triangle"/>
          </a:ln>
        </p:spPr>
      </p:sp>
      <p:sp>
        <p:nvSpPr>
          <p:cNvPr id="70" name="Shape 59"/>
          <p:cNvSpPr/>
          <p:nvPr/>
        </p:nvSpPr>
        <p:spPr>
          <a:xfrm rot="-3208269" flipV="1">
            <a:off x="611448" y="3254539"/>
            <a:ext cx="2809213" cy="158732"/>
          </a:xfrm>
          <a:prstGeom prst="line">
            <a:avLst/>
          </a:prstGeom>
          <a:noFill/>
          <a:ln w="12700">
            <a:solidFill>
              <a:srgbClr val="999999"/>
            </a:solidFill>
            <a:prstDash val="dash"/>
            <a:tailEnd type="triangle"/>
          </a:ln>
        </p:spPr>
      </p:sp>
      <p:sp>
        <p:nvSpPr>
          <p:cNvPr id="71" name="Shape 60"/>
          <p:cNvSpPr/>
          <p:nvPr/>
        </p:nvSpPr>
        <p:spPr>
          <a:xfrm>
            <a:off x="4892040" y="1234440"/>
            <a:ext cx="594360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2" name="Text 61"/>
          <p:cNvSpPr/>
          <p:nvPr/>
        </p:nvSpPr>
        <p:spPr>
          <a:xfrm>
            <a:off x="4892040" y="123444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JWT 인증</a:t>
            </a:r>
            <a:endParaRPr lang="en-US" sz="600" dirty="0"/>
          </a:p>
        </p:txBody>
      </p:sp>
      <p:sp>
        <p:nvSpPr>
          <p:cNvPr id="73" name="Shape 62"/>
          <p:cNvSpPr/>
          <p:nvPr/>
        </p:nvSpPr>
        <p:spPr>
          <a:xfrm>
            <a:off x="5189220" y="3501263"/>
            <a:ext cx="594360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4" name="Text 63"/>
          <p:cNvSpPr/>
          <p:nvPr/>
        </p:nvSpPr>
        <p:spPr>
          <a:xfrm>
            <a:off x="5178899" y="3493008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마트 CRUD</a:t>
            </a:r>
            <a:endParaRPr lang="en-US" sz="600" dirty="0"/>
          </a:p>
        </p:txBody>
      </p:sp>
      <p:sp>
        <p:nvSpPr>
          <p:cNvPr id="75" name="Shape 64"/>
          <p:cNvSpPr/>
          <p:nvPr/>
        </p:nvSpPr>
        <p:spPr>
          <a:xfrm>
            <a:off x="4846320" y="3977640"/>
            <a:ext cx="667512" cy="182880"/>
          </a:xfrm>
          <a:prstGeom prst="roundRect">
            <a:avLst>
              <a:gd name="adj" fmla="val 20000"/>
            </a:avLst>
          </a:prstGeom>
          <a:solidFill>
            <a:srgbClr val="FFF9C4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76" name="Text 65"/>
          <p:cNvSpPr/>
          <p:nvPr/>
        </p:nvSpPr>
        <p:spPr>
          <a:xfrm>
            <a:off x="4846320" y="3977640"/>
            <a:ext cx="667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E651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입고확인</a:t>
            </a:r>
            <a:endParaRPr lang="en-US" sz="600" dirty="0"/>
          </a:p>
        </p:txBody>
      </p:sp>
      <p:sp>
        <p:nvSpPr>
          <p:cNvPr id="87" name="Shape 50">
            <a:extLst>
              <a:ext uri="{FF2B5EF4-FFF2-40B4-BE49-F238E27FC236}">
                <a16:creationId xmlns:a16="http://schemas.microsoft.com/office/drawing/2014/main" id="{B7FB7ADB-FD1F-797B-4E66-782D0374BFFF}"/>
              </a:ext>
            </a:extLst>
          </p:cNvPr>
          <p:cNvSpPr/>
          <p:nvPr/>
        </p:nvSpPr>
        <p:spPr>
          <a:xfrm rot="3321543">
            <a:off x="5701752" y="3517633"/>
            <a:ext cx="272363" cy="186227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  <a:tailEnd type="triangle"/>
          </a:ln>
        </p:spPr>
      </p:sp>
      <p:sp>
        <p:nvSpPr>
          <p:cNvPr id="88" name="Shape 56">
            <a:extLst>
              <a:ext uri="{FF2B5EF4-FFF2-40B4-BE49-F238E27FC236}">
                <a16:creationId xmlns:a16="http://schemas.microsoft.com/office/drawing/2014/main" id="{B4ECA536-4FE5-5EC1-9394-BAA990399CFB}"/>
              </a:ext>
            </a:extLst>
          </p:cNvPr>
          <p:cNvSpPr/>
          <p:nvPr/>
        </p:nvSpPr>
        <p:spPr>
          <a:xfrm rot="21052738" flipV="1">
            <a:off x="9342260" y="4016197"/>
            <a:ext cx="1168969" cy="440339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  <a:tailEnd type="triangle"/>
          </a:ln>
        </p:spPr>
      </p:sp>
      <p:sp>
        <p:nvSpPr>
          <p:cNvPr id="89" name="Shape 59">
            <a:extLst>
              <a:ext uri="{FF2B5EF4-FFF2-40B4-BE49-F238E27FC236}">
                <a16:creationId xmlns:a16="http://schemas.microsoft.com/office/drawing/2014/main" id="{37B0F878-1085-A35F-8714-C6027412373C}"/>
              </a:ext>
            </a:extLst>
          </p:cNvPr>
          <p:cNvSpPr/>
          <p:nvPr/>
        </p:nvSpPr>
        <p:spPr>
          <a:xfrm rot="18391731">
            <a:off x="6252330" y="2081275"/>
            <a:ext cx="4376077" cy="1650467"/>
          </a:xfrm>
          <a:prstGeom prst="line">
            <a:avLst/>
          </a:prstGeom>
          <a:noFill/>
          <a:ln w="12700">
            <a:solidFill>
              <a:srgbClr val="999999"/>
            </a:solidFill>
            <a:prstDash val="dash"/>
            <a:tailEnd type="triangle"/>
          </a:ln>
        </p:spPr>
      </p:sp>
      <p:sp>
        <p:nvSpPr>
          <p:cNvPr id="91" name="Shape 49">
            <a:extLst>
              <a:ext uri="{FF2B5EF4-FFF2-40B4-BE49-F238E27FC236}">
                <a16:creationId xmlns:a16="http://schemas.microsoft.com/office/drawing/2014/main" id="{450E8CCB-9403-EDFB-229E-B5B14562E142}"/>
              </a:ext>
            </a:extLst>
          </p:cNvPr>
          <p:cNvSpPr/>
          <p:nvPr/>
        </p:nvSpPr>
        <p:spPr>
          <a:xfrm rot="20507491" flipV="1">
            <a:off x="6285095" y="1856990"/>
            <a:ext cx="1111899" cy="522118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0"/>
          </a:xfrm>
          <a:prstGeom prst="rect">
            <a:avLst/>
          </a:prstGeom>
          <a:solidFill>
            <a:srgbClr val="1E2A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프로그래밍 언어 &amp; 기술스택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2E5984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583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ItaDX</a:t>
            </a:r>
            <a:r>
              <a:rPr lang="en-US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800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</a:t>
            </a:r>
            <a:r>
              <a:rPr lang="en-US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설명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822960"/>
            <a:ext cx="3474720" cy="411480"/>
          </a:xfrm>
          <a:prstGeom prst="rect">
            <a:avLst/>
          </a:prstGeom>
          <a:solidFill>
            <a:srgbClr val="4CAF50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8229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프론트엔드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537334"/>
              </p:ext>
            </p:extLst>
          </p:nvPr>
        </p:nvGraphicFramePr>
        <p:xfrm>
          <a:off x="457200" y="1280160"/>
          <a:ext cx="3474720" cy="22860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언어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ko-KR" sz="1000" dirty="0">
                          <a:solidFill>
                            <a:srgbClr val="5555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Next.js 14.2 (React 18) </a:t>
                      </a:r>
                      <a:endParaRPr lang="en-US" altLang="ko-KR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206240" y="822960"/>
            <a:ext cx="3474720" cy="411480"/>
          </a:xfrm>
          <a:prstGeom prst="rect">
            <a:avLst/>
          </a:prstGeom>
          <a:solidFill>
            <a:srgbClr val="2196F3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206240" y="8229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백엔드 (Node.js)</a:t>
            </a:r>
            <a:endParaRPr lang="en-US" sz="16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4149825"/>
              </p:ext>
            </p:extLst>
          </p:nvPr>
        </p:nvGraphicFramePr>
        <p:xfrm>
          <a:off x="4206240" y="1280160"/>
          <a:ext cx="3474720" cy="22860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언어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rgbClr val="5555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Nest.js 10.3</a:t>
                      </a:r>
                      <a:endParaRPr lang="en-US" altLang="ko-KR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8046720" y="822960"/>
            <a:ext cx="3474720" cy="411480"/>
          </a:xfrm>
          <a:prstGeom prst="rect">
            <a:avLst/>
          </a:prstGeom>
          <a:solidFill>
            <a:srgbClr val="7B1FA2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8046720" y="8229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엔진 (Python)</a:t>
            </a:r>
            <a:endParaRPr lang="en-US" sz="1600" dirty="0"/>
          </a:p>
        </p:txBody>
      </p:sp>
      <p:graphicFrame>
        <p:nvGraphicFramePr>
          <p:cNvPr id="1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9023463"/>
              </p:ext>
            </p:extLst>
          </p:nvPr>
        </p:nvGraphicFramePr>
        <p:xfrm>
          <a:off x="8046720" y="1280160"/>
          <a:ext cx="3474720" cy="22860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언어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555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Python 3.11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" name="Shape 10"/>
          <p:cNvSpPr/>
          <p:nvPr/>
        </p:nvSpPr>
        <p:spPr>
          <a:xfrm>
            <a:off x="457200" y="4937760"/>
            <a:ext cx="11247120" cy="365760"/>
          </a:xfrm>
          <a:prstGeom prst="rect">
            <a:avLst/>
          </a:prstGeom>
          <a:solidFill>
            <a:srgbClr val="1E2A3A"/>
          </a:solidFill>
          <a:ln/>
        </p:spPr>
      </p:sp>
      <p:sp>
        <p:nvSpPr>
          <p:cNvPr id="16" name="Text 11"/>
          <p:cNvSpPr/>
          <p:nvPr/>
        </p:nvSpPr>
        <p:spPr>
          <a:xfrm>
            <a:off x="457200" y="49377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인프라 &amp; DB</a:t>
            </a:r>
            <a:endParaRPr lang="en-US" sz="1400" dirty="0"/>
          </a:p>
        </p:txBody>
      </p:sp>
      <p:graphicFrame>
        <p:nvGraphicFramePr>
          <p:cNvPr id="17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9729595"/>
              </p:ext>
            </p:extLst>
          </p:nvPr>
        </p:nvGraphicFramePr>
        <p:xfrm>
          <a:off x="457200" y="5349240"/>
          <a:ext cx="11247120" cy="579120"/>
        </p:xfrm>
        <a:graphic>
          <a:graphicData uri="http://schemas.openxmlformats.org/drawingml/2006/table">
            <a:tbl>
              <a:tblPr/>
              <a:tblGrid>
                <a:gridCol w="22494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PostgreSQL 15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Redis 7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Docker Compose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Nginx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pnpm workspace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 err="1">
                          <a:solidFill>
                            <a:srgbClr val="66666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메인DB</a:t>
                      </a:r>
                      <a:r>
                        <a:rPr lang="en-US" sz="900" dirty="0">
                          <a:solidFill>
                            <a:srgbClr val="66666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JWT블랙리스트 + 큐 + Rate Limit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전체 서비스 컨테이너 관리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 err="1">
                          <a:solidFill>
                            <a:srgbClr val="66666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리버스</a:t>
                      </a:r>
                      <a:r>
                        <a:rPr lang="en-US" sz="900" dirty="0">
                          <a:solidFill>
                            <a:srgbClr val="66666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</a:t>
                      </a:r>
                      <a:r>
                        <a:rPr lang="en-US" sz="900" dirty="0" err="1">
                          <a:solidFill>
                            <a:srgbClr val="66666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프록시</a:t>
                      </a:r>
                      <a:endParaRPr lang="en-US" sz="900" dirty="0">
                        <a:solidFill>
                          <a:srgbClr val="666666"/>
                        </a:solidFill>
                        <a:latin typeface="맑은 고딕" pitchFamily="34" charset="0"/>
                        <a:ea typeface="맑은 고딕" pitchFamily="34" charset="-122"/>
                        <a:cs typeface="맑은 고딕" pitchFamily="34" charset="-12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WebSocket</a:t>
                      </a: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모노레포 </a:t>
                      </a:r>
                      <a:r>
                        <a:rPr lang="en-US" sz="900" dirty="0" err="1">
                          <a:solidFill>
                            <a:srgbClr val="66666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패키지</a:t>
                      </a:r>
                      <a:r>
                        <a:rPr lang="en-US" sz="900" dirty="0">
                          <a:solidFill>
                            <a:srgbClr val="66666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</a:t>
                      </a:r>
                      <a:r>
                        <a:rPr lang="en-US" sz="900" dirty="0" err="1">
                          <a:solidFill>
                            <a:srgbClr val="66666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관리</a:t>
                      </a:r>
                      <a:r>
                        <a:rPr lang="en-US" sz="900" dirty="0">
                          <a:solidFill>
                            <a:srgbClr val="66666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</a:t>
                      </a:r>
                      <a:r>
                        <a:rPr lang="ko-KR" altLang="en-US" sz="900" dirty="0">
                          <a:solidFill>
                            <a:srgbClr val="66666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패키지 전역 저장소에 한 번만 보관하고 링크로 공유</a:t>
                      </a:r>
                      <a:r>
                        <a:rPr lang="en-US" sz="900" dirty="0">
                          <a:solidFill>
                            <a:srgbClr val="66666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0"/>
          </a:xfrm>
          <a:prstGeom prst="rect">
            <a:avLst/>
          </a:prstGeom>
          <a:solidFill>
            <a:srgbClr val="1E2A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폴더 구조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2E5984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583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ItaDX</a:t>
            </a:r>
            <a:r>
              <a:rPr lang="en-US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800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</a:t>
            </a:r>
            <a:r>
              <a:rPr lang="en-US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설명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61264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59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폴더 전체 구조 (★ = 핵심 파일)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868680"/>
            <a:ext cx="36576" cy="5486400"/>
          </a:xfrm>
          <a:prstGeom prst="rect">
            <a:avLst/>
          </a:prstGeom>
          <a:solidFill>
            <a:srgbClr val="2E5984"/>
          </a:solidFill>
          <a:ln/>
        </p:spPr>
      </p:sp>
      <p:sp>
        <p:nvSpPr>
          <p:cNvPr id="8" name="Shape 6"/>
          <p:cNvSpPr/>
          <p:nvPr/>
        </p:nvSpPr>
        <p:spPr>
          <a:xfrm>
            <a:off x="493776" y="868679"/>
            <a:ext cx="4992624" cy="5669279"/>
          </a:xfrm>
          <a:prstGeom prst="rect">
            <a:avLst/>
          </a:prstGeom>
          <a:solidFill>
            <a:srgbClr val="FAFA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868680"/>
            <a:ext cx="4800600" cy="56692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itadx-final/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apps/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admin-web/              ← 프론트엔드 (Next.js)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├── src/lib/api.ts         API 클라이언트 (JWT 자동첨부)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├── src/lib/socket.ts      WebSocket 연결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├── src/hooks/             React Query 훅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│   ├── use-receivings.ts  ★ 입고확인 API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│   ├── use-socket.ts      실시간 이벤트 수신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│   └── use-dashboard.ts   대시보드 KPI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├── src/stores/auth-store.ts  로그인 상태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├── src/app/login/         로그인 화면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├── src/app/mart/receiving/ ★ 입고확인 화면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├── src/app/bank/dashboard/ 은행 대시보드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└── src/components/ui/     공통 UI 컴포넌트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services/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auth-api/               ← JWT 인증 (포트 4001)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└── src/auth/auth.service.ts  로그인/토큰 발급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admin-api/              ← 마트 CRUD (포트 4000)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└── src/mart/mart.service.ts  마트 조회/등록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erp-api/                ← ★ 입고확인 (포트 4002)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src/receiving/receiving.service.ts ★★★ 핵심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└── src/queue/credit-score.processor.ts  큐 Worker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gateway-api/            ← API 라우팅 (포트 4003)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└── src/proxy/proxy.middleware.ts  URL→서비스 매핑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engine/engine-api/          ← Python AI (포트 8000)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services/v10_service.py    ★ 신용평가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services/v41_service.py    마트 심사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routers/v10_router.py      FastAPI 엔드포인트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libs/                       ← 공통 라이브러리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auth/     JWT Guard, Roles Guard, @CurrentUser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database/ TypeORM Entity (11개 테이블 매핑)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audit/    감사 로그 자동 기록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websocket/ WebSocket Gateway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common/   API 응답 형식, 에러 코드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scripts/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init-db.sql            DB 테이블 생성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seed.sql               테스트 데이터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infra/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docker/docker-compose.yaml  전체 서비스 정의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nginx/nginx.conf            리버스 프록시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5943600" y="1097280"/>
            <a:ext cx="5760720" cy="365760"/>
          </a:xfrm>
          <a:prstGeom prst="rect">
            <a:avLst/>
          </a:prstGeom>
          <a:solidFill>
            <a:srgbClr val="1E2A3A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0" y="109728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</a:rPr>
              <a:t>구성 구조 현황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105781"/>
              </p:ext>
            </p:extLst>
          </p:nvPr>
        </p:nvGraphicFramePr>
        <p:xfrm>
          <a:off x="5943600" y="1508760"/>
          <a:ext cx="5029200" cy="152400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프론트엔드 (TypeScript)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77777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apps/admin-web/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백엔드 서비스 (TypeScript)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77777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services/*/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AI 엔진 (Python)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77777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engine/engine-api/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공통 라이브러리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77777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libs/*/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인프라/설정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77777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infra/, scripts/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가이드 문서 (GUIDE.md)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77777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각 폴더별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653</Words>
  <Application>Microsoft Office PowerPoint</Application>
  <PresentationFormat>와이드스크린</PresentationFormat>
  <Paragraphs>166</Paragraphs>
  <Slides>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7" baseType="lpstr">
      <vt:lpstr>맑은 고딕</vt:lpstr>
      <vt:lpstr>Arial</vt:lpstr>
      <vt:lpstr>Consolas</vt:lpstr>
      <vt:lpstr>Office Theme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ItaDX MVP 시스템 설명</dc:title>
  <dc:subject>PptxGenJS Presentation</dc:subject>
  <dc:creator>ItaDX</dc:creator>
  <cp:lastModifiedBy>영석 권</cp:lastModifiedBy>
  <cp:revision>10</cp:revision>
  <dcterms:created xsi:type="dcterms:W3CDTF">2026-02-26T03:13:52Z</dcterms:created>
  <dcterms:modified xsi:type="dcterms:W3CDTF">2026-02-26T04:24:16Z</dcterms:modified>
</cp:coreProperties>
</file>