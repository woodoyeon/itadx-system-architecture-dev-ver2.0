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84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시스템 아키텍처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9326880" cy="5349240"/>
          </a:xfrm>
          <a:prstGeom prst="rect">
            <a:avLst/>
          </a:prstGeom>
          <a:solidFill>
            <a:srgbClr val="FAFAF8"/>
          </a:solidFill>
          <a:ln w="254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968508"/>
            <a:ext cx="4206240" cy="5066531"/>
          </a:xfrm>
          <a:prstGeom prst="rect">
            <a:avLst/>
          </a:prstGeom>
          <a:solidFill>
            <a:srgbClr val="F3F3EE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0" cy="731520"/>
          </a:xfrm>
          <a:prstGeom prst="ellipse">
            <a:avLst/>
          </a:prstGeom>
          <a:solidFill>
            <a:srgbClr val="607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57196" y="1499616"/>
            <a:ext cx="11887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https://itadx.co.kr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8346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17452"/>
              </p:ext>
            </p:extLst>
          </p:nvPr>
        </p:nvGraphicFramePr>
        <p:xfrm>
          <a:off x="2628458" y="2463422"/>
          <a:ext cx="1554480" cy="55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18.3.1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14.2.15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5.4.0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2062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3A04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319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GW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401091"/>
              </p:ext>
            </p:extLst>
          </p:nvPr>
        </p:nvGraphicFramePr>
        <p:xfrm>
          <a:off x="4206240" y="2453640"/>
          <a:ext cx="1348298" cy="289560"/>
        </p:xfrm>
        <a:graphic>
          <a:graphicData uri="http://schemas.openxmlformats.org/drawingml/2006/table">
            <a:tbl>
              <a:tblPr/>
              <a:tblGrid>
                <a:gridCol w="594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4003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566928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6692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39496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</a:t>
            </a:r>
            <a:endParaRPr lang="en-US" sz="900" dirty="0"/>
          </a:p>
        </p:txBody>
      </p:sp>
      <p:graphicFrame>
        <p:nvGraphicFramePr>
          <p:cNvPr id="2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71635"/>
              </p:ext>
            </p:extLst>
          </p:nvPr>
        </p:nvGraphicFramePr>
        <p:xfrm>
          <a:off x="5468112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passport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731520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9C27B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1520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704088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AI/ENGINE</a:t>
            </a:r>
            <a:endParaRPr lang="en-US" sz="9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03259"/>
              </p:ext>
            </p:extLst>
          </p:nvPr>
        </p:nvGraphicFramePr>
        <p:xfrm>
          <a:off x="7059168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FastAPI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0.104.1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4"/>
          <p:cNvSpPr/>
          <p:nvPr/>
        </p:nvSpPr>
        <p:spPr>
          <a:xfrm>
            <a:off x="5669280" y="25603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6692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394960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ADMIN-API</a:t>
            </a:r>
            <a:endParaRPr lang="en-US" sz="900" dirty="0"/>
          </a:p>
        </p:txBody>
      </p:sp>
      <p:graphicFrame>
        <p:nvGraphicFramePr>
          <p:cNvPr id="3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74135"/>
              </p:ext>
            </p:extLst>
          </p:nvPr>
        </p:nvGraphicFramePr>
        <p:xfrm>
          <a:off x="6501207" y="3005305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Shape 27"/>
          <p:cNvSpPr/>
          <p:nvPr/>
        </p:nvSpPr>
        <p:spPr>
          <a:xfrm>
            <a:off x="5669280" y="38404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 w="38100">
            <a:solidFill>
              <a:srgbClr val="FFD6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6692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5394960" y="467417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ERP-API</a:t>
            </a:r>
            <a:endParaRPr lang="en-US" sz="900" dirty="0"/>
          </a:p>
        </p:txBody>
      </p:sp>
      <p:graphicFrame>
        <p:nvGraphicFramePr>
          <p:cNvPr id="4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42241"/>
              </p:ext>
            </p:extLst>
          </p:nvPr>
        </p:nvGraphicFramePr>
        <p:xfrm>
          <a:off x="5376672" y="4860162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Shape 30"/>
          <p:cNvSpPr/>
          <p:nvPr/>
        </p:nvSpPr>
        <p:spPr>
          <a:xfrm>
            <a:off x="6747155" y="3627312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707236" y="3610389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BULL QUEUE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신용평가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8686800" y="45720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868680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42" name="Text 34"/>
          <p:cNvSpPr/>
          <p:nvPr/>
        </p:nvSpPr>
        <p:spPr>
          <a:xfrm>
            <a:off x="841248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평가서버</a:t>
            </a:r>
            <a:endParaRPr lang="en-US" sz="900" dirty="0"/>
          </a:p>
        </p:txBody>
      </p:sp>
      <p:graphicFrame>
        <p:nvGraphicFramePr>
          <p:cNvPr id="4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45381"/>
              </p:ext>
            </p:extLst>
          </p:nvPr>
        </p:nvGraphicFramePr>
        <p:xfrm>
          <a:off x="7841237" y="551839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신용평가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마트심사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Shape 35"/>
          <p:cNvSpPr/>
          <p:nvPr/>
        </p:nvSpPr>
        <p:spPr>
          <a:xfrm>
            <a:off x="10424160" y="1051560"/>
            <a:ext cx="731520" cy="731520"/>
          </a:xfrm>
          <a:prstGeom prst="ellipse">
            <a:avLst/>
          </a:prstGeom>
          <a:solidFill>
            <a:srgbClr val="D32F2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104241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6" name="Text 37"/>
          <p:cNvSpPr/>
          <p:nvPr/>
        </p:nvSpPr>
        <p:spPr>
          <a:xfrm>
            <a:off x="1014984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REDIS</a:t>
            </a:r>
            <a:endParaRPr lang="en-US" sz="900" dirty="0"/>
          </a:p>
        </p:txBody>
      </p:sp>
      <p:graphicFrame>
        <p:nvGraphicFramePr>
          <p:cNvPr id="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2572"/>
              </p:ext>
            </p:extLst>
          </p:nvPr>
        </p:nvGraphicFramePr>
        <p:xfrm>
          <a:off x="10058400" y="199574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6379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Shape 38"/>
          <p:cNvSpPr/>
          <p:nvPr/>
        </p:nvSpPr>
        <p:spPr>
          <a:xfrm>
            <a:off x="10424160" y="3246120"/>
            <a:ext cx="731520" cy="731520"/>
          </a:xfrm>
          <a:prstGeom prst="ellipse">
            <a:avLst/>
          </a:prstGeom>
          <a:solidFill>
            <a:srgbClr val="303F9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104241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10149840" y="3995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</a:t>
            </a:r>
            <a:endParaRPr lang="en-US" sz="900" dirty="0"/>
          </a:p>
        </p:txBody>
      </p:sp>
      <p:graphicFrame>
        <p:nvGraphicFramePr>
          <p:cNvPr id="5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93186"/>
              </p:ext>
            </p:extLst>
          </p:nvPr>
        </p:nvGraphicFramePr>
        <p:xfrm>
          <a:off x="10058400" y="4173523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5432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Shape 41"/>
          <p:cNvSpPr/>
          <p:nvPr/>
        </p:nvSpPr>
        <p:spPr>
          <a:xfrm>
            <a:off x="731520" y="4572000"/>
            <a:ext cx="731520" cy="731520"/>
          </a:xfrm>
          <a:prstGeom prst="ellipse">
            <a:avLst/>
          </a:prstGeom>
          <a:solidFill>
            <a:srgbClr val="79554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54" name="Text 43"/>
          <p:cNvSpPr/>
          <p:nvPr/>
        </p:nvSpPr>
        <p:spPr>
          <a:xfrm>
            <a:off x="45720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ITANET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 rot="-995240">
            <a:off x="1234440" y="1920240"/>
            <a:ext cx="448429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 rot="196229">
            <a:off x="2176272" y="1792224"/>
            <a:ext cx="64112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3584448" y="1828800"/>
            <a:ext cx="60350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 rot="-1092509">
            <a:off x="4956048" y="1645920"/>
            <a:ext cx="731577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 rot="3321543">
            <a:off x="5550907" y="1966095"/>
            <a:ext cx="601834" cy="415813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3" name="Shape 52"/>
          <p:cNvSpPr/>
          <p:nvPr/>
        </p:nvSpPr>
        <p:spPr>
          <a:xfrm rot="-217977">
            <a:off x="6414303" y="3463507"/>
            <a:ext cx="293035" cy="435486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 rot="3282795" flipV="1">
            <a:off x="7849129" y="4045646"/>
            <a:ext cx="1079292" cy="298328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5" name="Shape 54"/>
          <p:cNvSpPr/>
          <p:nvPr/>
        </p:nvSpPr>
        <p:spPr>
          <a:xfrm>
            <a:off x="6437874" y="1408176"/>
            <a:ext cx="3967998" cy="914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6" name="Shape 55"/>
          <p:cNvSpPr/>
          <p:nvPr/>
        </p:nvSpPr>
        <p:spPr>
          <a:xfrm rot="470132">
            <a:off x="6409072" y="2929676"/>
            <a:ext cx="4086905" cy="14266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7" name="Shape 56"/>
          <p:cNvSpPr/>
          <p:nvPr/>
        </p:nvSpPr>
        <p:spPr>
          <a:xfrm rot="-547262">
            <a:off x="6497753" y="4241877"/>
            <a:ext cx="2120105" cy="80819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9" name="Shape 58"/>
          <p:cNvSpPr/>
          <p:nvPr/>
        </p:nvSpPr>
        <p:spPr>
          <a:xfrm rot="10707111" flipV="1">
            <a:off x="1476414" y="4636537"/>
            <a:ext cx="4104941" cy="308309"/>
          </a:xfrm>
          <a:prstGeom prst="line">
            <a:avLst/>
          </a:prstGeom>
          <a:noFill/>
          <a:ln w="19050">
            <a:solidFill>
              <a:srgbClr val="4CAF50"/>
            </a:solidFill>
            <a:prstDash val="dash"/>
            <a:tailEnd type="triangle"/>
          </a:ln>
        </p:spPr>
      </p:sp>
      <p:sp>
        <p:nvSpPr>
          <p:cNvPr id="70" name="Shape 59"/>
          <p:cNvSpPr/>
          <p:nvPr/>
        </p:nvSpPr>
        <p:spPr>
          <a:xfrm rot="-3208269" flipV="1">
            <a:off x="611448" y="3254539"/>
            <a:ext cx="2809213" cy="158732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71" name="Shape 60"/>
          <p:cNvSpPr/>
          <p:nvPr/>
        </p:nvSpPr>
        <p:spPr>
          <a:xfrm>
            <a:off x="4892040" y="123444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4892040" y="1234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</a:t>
            </a:r>
            <a:endParaRPr lang="en-US" sz="600" dirty="0"/>
          </a:p>
        </p:txBody>
      </p:sp>
      <p:sp>
        <p:nvSpPr>
          <p:cNvPr id="73" name="Shape 62"/>
          <p:cNvSpPr/>
          <p:nvPr/>
        </p:nvSpPr>
        <p:spPr>
          <a:xfrm>
            <a:off x="5189220" y="3501263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5178899" y="34930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CRUD</a:t>
            </a:r>
            <a:endParaRPr lang="en-US" sz="600" dirty="0"/>
          </a:p>
        </p:txBody>
      </p:sp>
      <p:sp>
        <p:nvSpPr>
          <p:cNvPr id="75" name="Shape 64"/>
          <p:cNvSpPr/>
          <p:nvPr/>
        </p:nvSpPr>
        <p:spPr>
          <a:xfrm>
            <a:off x="4846320" y="3977640"/>
            <a:ext cx="667512" cy="182880"/>
          </a:xfrm>
          <a:prstGeom prst="roundRect">
            <a:avLst>
              <a:gd name="adj" fmla="val 20000"/>
            </a:avLst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4846320" y="3977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입고확인</a:t>
            </a:r>
            <a:endParaRPr lang="en-US" sz="600" dirty="0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B7FB7ADB-FD1F-797B-4E66-782D0374BFFF}"/>
              </a:ext>
            </a:extLst>
          </p:cNvPr>
          <p:cNvSpPr/>
          <p:nvPr/>
        </p:nvSpPr>
        <p:spPr>
          <a:xfrm rot="3321543">
            <a:off x="5701752" y="3517633"/>
            <a:ext cx="272363" cy="186227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B4ECA536-4FE5-5EC1-9394-BAA990399CFB}"/>
              </a:ext>
            </a:extLst>
          </p:cNvPr>
          <p:cNvSpPr/>
          <p:nvPr/>
        </p:nvSpPr>
        <p:spPr>
          <a:xfrm rot="21052738" flipV="1">
            <a:off x="9342260" y="4016197"/>
            <a:ext cx="1168969" cy="440339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9" name="Shape 59">
            <a:extLst>
              <a:ext uri="{FF2B5EF4-FFF2-40B4-BE49-F238E27FC236}">
                <a16:creationId xmlns:a16="http://schemas.microsoft.com/office/drawing/2014/main" id="{37B0F878-1085-A35F-8714-C6027412373C}"/>
              </a:ext>
            </a:extLst>
          </p:cNvPr>
          <p:cNvSpPr/>
          <p:nvPr/>
        </p:nvSpPr>
        <p:spPr>
          <a:xfrm rot="18391731">
            <a:off x="6252330" y="2081275"/>
            <a:ext cx="4376077" cy="1650467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450E8CCB-9403-EDFB-229E-B5B14562E142}"/>
              </a:ext>
            </a:extLst>
          </p:cNvPr>
          <p:cNvSpPr/>
          <p:nvPr/>
        </p:nvSpPr>
        <p:spPr>
          <a:xfrm rot="20507491" flipV="1">
            <a:off x="6285095" y="1856990"/>
            <a:ext cx="1111899" cy="52211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&amp; 기술스택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37334"/>
              </p:ext>
            </p:extLst>
          </p:nvPr>
        </p:nvGraphicFramePr>
        <p:xfrm>
          <a:off x="45720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14.2 (React 18) </a:t>
                      </a:r>
                      <a:endParaRPr lang="en-US" altLang="ko-KR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(Node.js)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49825"/>
              </p:ext>
            </p:extLst>
          </p:nvPr>
        </p:nvGraphicFramePr>
        <p:xfrm>
          <a:off x="420624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 10.3</a:t>
                      </a:r>
                      <a:endParaRPr lang="en-US" altLang="ko-KR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엔진 (Python)</a:t>
            </a:r>
            <a:endParaRPr lang="en-US" sz="1600" dirty="0"/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23463"/>
              </p:ext>
            </p:extLst>
          </p:nvPr>
        </p:nvGraphicFramePr>
        <p:xfrm>
          <a:off x="8046720" y="1280160"/>
          <a:ext cx="3474720" cy="228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 3.11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6" name="Text 11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&amp; DB</a:t>
            </a:r>
            <a:endParaRPr lang="en-US" sz="140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29595"/>
              </p:ext>
            </p:extLst>
          </p:nvPr>
        </p:nvGraphicFramePr>
        <p:xfrm>
          <a:off x="457200" y="5349240"/>
          <a:ext cx="11247120" cy="57912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PostgreSQL 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 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Compose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pnpm workspace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메인DB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JWT블랙리스트 + 큐 + Rate Limit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서비스 컨테이너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리버스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프록시</a:t>
                      </a:r>
                      <a:endParaRPr lang="en-US" sz="900" dirty="0">
                        <a:solidFill>
                          <a:srgbClr val="666666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</a:t>
                      </a: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모노레포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패키지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패키지 전역 저장소에 한 번만 보관하고 링크로 공유</a:t>
                      </a: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 구조 (★ = 핵심 파일)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6576" cy="54864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868679"/>
            <a:ext cx="4992624" cy="5669279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68680"/>
            <a:ext cx="4800600" cy="5669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itadx-final/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admin-web/              ← 프론트엔드 (Next.js)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src/lib/api.ts         API 클라이언트 (JWT 자동첨부)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src/lib/socket.ts      WebSocket 연결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src/hooks/             React Query 훅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use-receivings.ts  ★ 입고확인 API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use-socket.ts      실시간 이벤트 수신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use-dashboard.ts   대시보드 KPI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src/stores/auth-store.ts  로그인 상태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src/app/login/         로그인 화면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src/app/mart/receiving/ ★ 입고확인 화면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src/app/bank/dashboard/ 은행 대시보드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src/components/ui/     공통 UI 컴포넌트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auth-api/               ← JWT 인증 (포트 4001)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src/auth/auth.service.ts  로그인/토큰 발급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admin-api/              ← 마트 CRUD (포트 4000)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src/mart/mart.service.ts  마트 조회/등록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erp-api/                ← ★ 입고확인 (포트 4002)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src/receiving/receiving.service.ts ★★★ 핵심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src/queue/credit-score.processor.ts  큐 Worker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gateway-api/            ← API 라우팅 (포트 4003)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src/proxy/proxy.middleware.ts  URL→서비스 매핑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engine/engine-api/          ← Python AI (포트 8000)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services/v10_service.py    ★ 신용평가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services/v41_service.py    마트 심사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routers/v10_router.py      FastAPI 엔드포인트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libs/                       ← 공통 라이브러리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auth/     JWT Guard, Roles Guard, @CurrentUser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database/ TypeORM Entity (11개 테이블 매핑)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audit/    감사 로그 자동 기록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websocket/ WebSocket Gateway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common/   API 응답 형식, 에러 코드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init-db.sql            DB 테이블 생성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seed.sql               테스트 데이터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infra/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docker/docker-compose.yaml  전체 서비스 정의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nginx/nginx.conf            리버스 프록시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구성 구조 현황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5781"/>
              </p:ext>
            </p:extLst>
          </p:nvPr>
        </p:nvGraphicFramePr>
        <p:xfrm>
          <a:off x="5943600" y="1508760"/>
          <a:ext cx="5029200" cy="1524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apps/admin-web/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서비스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 (Python)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engine/engine-api/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라이브러리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인프라/설정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infra/, scripts/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문서 (GUIDE.md)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각 폴더별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예시 ① : 프론트엔드 → 백엔드 (REST API + JWT)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흐름:  [브라우저]  →  axios + JWT  →  [Nginx]  →  [gateway-api]  →  [erp-api]  →  [PostgreSQL]  →  응답 반환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— 입고 조회 + 확인 (use-receivings.ts)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6576" cy="45720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" y="1600200"/>
            <a:ext cx="5541264" cy="4843732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00200"/>
            <a:ext cx="5349240" cy="4572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apps/admin-web/src/hooks/use-receivings.ts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프론트에서 입고 목록 조회 + 확인 버튼 처리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입고 목록 조회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useReceivings(params)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useQuery({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['receivings', params],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() =&gt; api.get('/receivings', { params })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.then(r =&gt; r.data),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GET /api/receivings?page=1&amp;limit=20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Nginx → gateway → erp-api 순서로 전달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입고확인 버튼 클릭 시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useConfirmReceiving()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useMutation({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mutationFn: (id) =&gt;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api.patch(`/receivings/${id}/confirm`)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.then(r =&gt; r.data),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PATCH /api/receivings/abc-123/confirm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Optimistic Update: 서버 응답 전에 UI 먼저 변경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onMutate: async (id) =&gt;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화면의 해당 항목을 'confirmed'로 즉시 변경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queryClient.setQueriesData(['receivings'], (old) =&gt; ({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...old,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data: old.data.map(r =&gt;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r.id === id ? { ...r, status: 'confirmed' } : r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onSettled: () =&gt; {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성공이든 실패든 → 서버 최신 데이터로 교체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queryClient.invalidateQueries(['receivings']);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309360" y="1344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— 입고확인 8단계 (receiving.service.ts)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36576" cy="45720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5936" y="1600200"/>
            <a:ext cx="5541264" cy="4843732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00200"/>
            <a:ext cx="5349240" cy="48437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services/erp-api/src/receiving/receiving.service.ts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백엔드 입고확인 핵심 로직 (8단계)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confirmReceiving(id, user)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qr = this.dataSource.createQueryRunner();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qr.startTransaction('SERIALIZABLE');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① 비관적 잠금 (동시 확인 방지)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rec = await qr.manager.findOne(ReceivingEntity,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where: { id },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lock: { mode: 'pessimistic_write' },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→ SELECT * FROM receivings WHERE id=$1 FOR UPDATE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② 이미 확인됐으면 → 409 에러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(rec.status === 'confirmed')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Error('이미 확인된 입고');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③ 상태 변경 + ④ 감사 로그 + ⑤ 커밋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rec.status = 'confirmed';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rec.confirmedAt = new Date();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qr.manager.save(rec);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qr.query('INSERT INTO audit_logs ...');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qr.commitTransaction();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⑥ 비동기: 신용평가 재계산 (Bull Queue)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this.creditQueue.add('rescore',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merchantId: rec.merchantId,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⑦ 실시간: 은행 담당자 알림 (WebSocket)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this.wsGateway.notifyBank('receiving:confirmed',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receivingId: id, amount: rec.totalAmount,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success: true, data: rec };  // ⑧ 응답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qr.rollbackTransaction();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예시 ② : WebSocket 실시간 알림 &amp; Bull Queue 비동기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557784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백엔드 → 프론트 (WebSocket 실시간)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822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백엔드 → AI 엔진 (Bull Queue 비동기)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— WebSocket 이벤트 발행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36576" cy="201168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1508759"/>
            <a:ext cx="5541264" cy="4648759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08760"/>
            <a:ext cx="5349240" cy="4828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libs/websocket/src/gateways/notification.gateway.ts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백엔드: 역할별 room에 이벤트 push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@WebSocketGateway({ cors: { origin: '*' } })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NotificationGateway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@WebSocketServer() server: Server;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handleConnection(client: Socket)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JWT에서_추출(client.handshake.auth.token);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client.join(`role:${user.role}`); // bank/mart/admin 방 배정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notifyBank(event: string, data: any) {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this.server.to('role:bank').emit(event, data);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은행 사용자 전원에게 즉시 전달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156962" y="12525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 — 이벤트 수신 → 화면 자동 갱신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56962" y="1508592"/>
            <a:ext cx="36576" cy="219456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3538" y="1508591"/>
            <a:ext cx="5541264" cy="4648759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2" y="1508591"/>
            <a:ext cx="5349240" cy="464892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apps/admin-web/src/hooks/use-socket.ts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프론트: 이벤트 수신 → 화면 자동 갱신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useSocket()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socket = getSocket();  // JWT 인증된 WebSocket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입고확인 이벤트 수신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socket.on('receiving:confirmed', ()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React Query 캐시 무효화 → 자동 재조회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queryClient.invalidateQueries(['receivings']);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queryClient.invalidateQueries(['dashboard']);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→ 새로고침 없이 화면이 바로 갱신!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{ socket.off('receiving:confirmed'); };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1560</Words>
  <Application>Microsoft Office PowerPoint</Application>
  <PresentationFormat>와이드스크린</PresentationFormat>
  <Paragraphs>294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ItaDX MVP 시스템 설명</dc:title>
  <dc:subject>PptxGenJS Presentation</dc:subject>
  <dc:creator>ItaDX</dc:creator>
  <cp:lastModifiedBy>영석 권</cp:lastModifiedBy>
  <cp:revision>9</cp:revision>
  <dcterms:created xsi:type="dcterms:W3CDTF">2026-02-26T03:13:52Z</dcterms:created>
  <dcterms:modified xsi:type="dcterms:W3CDTF">2026-02-26T04:12:34Z</dcterms:modified>
</cp:coreProperties>
</file>