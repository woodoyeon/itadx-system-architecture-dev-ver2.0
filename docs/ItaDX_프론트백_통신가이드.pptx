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ItaDX  프론트 ↔ 백엔드 통신 가이드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맑은 고딕"/>
              </a:defRPr>
            </a:pPr>
            <a:r>
              <a:t>이 문서만 보면  프론트·백엔드  개발자 모두</a:t>
            </a:r>
            <a:br/>
            <a:r>
              <a:t>같은 틀 안에서 바로 개발할 수 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41148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REST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41148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WebSocket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1148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JSON 규격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9" y="41148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코드 예시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ItaDX MVP  ·  2026.02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전체 아키텍처  —  요청이 어떻게 흘러가나?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프론트는 /api 만 부르면 됩니다. 나머지는 Next→Gateway→백엔드가 알아서 처리합니다.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2011680" cy="4389120"/>
          </a:xfrm>
          <a:prstGeom prst="roundRect">
            <a:avLst>
              <a:gd name="adj" fmla="val 5000"/>
            </a:avLst>
          </a:prstGeom>
          <a:solidFill>
            <a:srgbClr val="1E405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맑은 고딕"/>
              </a:defRPr>
            </a:pPr>
            <a:r>
              <a:t>🖥  브라우저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api.post('/auth/login')</a:t>
            </a:r>
            <a:br/>
            <a:r>
              <a:t>api.get('/receivings')</a:t>
            </a:r>
            <a:br/>
            <a:r>
              <a:t>api.patch('/receivings/:id/confirm')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맑은 고딕"/>
              </a:defRPr>
            </a:pPr>
            <a:r>
              <a:t>항상  /api  로 시작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  <a:latin typeface="맑은 고딕"/>
              </a:defRPr>
            </a:pPr>
            <a:r>
              <a:t>JWT 자동 첨부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📂 lib/api.ts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63440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4ADE80"/>
                </a:solidFill>
                <a:latin typeface="맑은 고딕"/>
              </a:defRPr>
            </a:pPr>
            <a:r>
              <a:t>WebSocket 수신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74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socket.on('receiving:confirmed')</a:t>
            </a:r>
            <a:br/>
            <a:r>
              <a:t>→ 캐시 무효화 → 화면 갱신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55448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2D2D44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  <a:latin typeface="맑은 고딕"/>
              </a:defRPr>
            </a:pPr>
            <a:r>
              <a:t>⚡ Next.js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/api/:path*</a:t>
            </a:r>
            <a:br/>
            <a:r>
              <a:t>   ↓ rewrite</a:t>
            </a:r>
            <a:br/>
            <a:r>
              <a:t>localhost:4003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📂 next.config.js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554480"/>
            <a:ext cx="2103120" cy="4389120"/>
          </a:xfrm>
          <a:prstGeom prst="roundRect">
            <a:avLst>
              <a:gd name="adj" fmla="val 5000"/>
            </a:avLst>
          </a:prstGeom>
          <a:solidFill>
            <a:srgbClr val="3B2D1E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1645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923C"/>
                </a:solidFill>
                <a:latin typeface="맑은 고딕"/>
              </a:defRPr>
            </a:pPr>
            <a:r>
              <a:t>🔀  Gateway :4003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URL prefix 보고 분배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56032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/api/auth     → :4001</a:t>
            </a:r>
            <a:br/>
            <a:r>
              <a:t>/api/marts    → :4000</a:t>
            </a:r>
            <a:br/>
            <a:r>
              <a:t>/api/users    → :4000</a:t>
            </a:r>
            <a:br/>
            <a:r>
              <a:t>/api/receivings → :4002</a:t>
            </a:r>
            <a:br/>
            <a:r>
              <a:t>/api/settlements → :4002</a:t>
            </a:r>
            <a:br/>
            <a:r>
              <a:t>/api/v41      → :8000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0" y="457200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44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B923C"/>
                </a:solidFill>
                <a:latin typeface="맑은 고딕"/>
              </a:defRPr>
            </a:pPr>
            <a:r>
              <a:t>Rate Limit 100/min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5029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📂 gateway-api/main.ts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1554480"/>
            <a:ext cx="3840480" cy="4389120"/>
          </a:xfrm>
          <a:prstGeom prst="roundRect">
            <a:avLst>
              <a:gd name="adj" fmla="val 5000"/>
            </a:avLst>
          </a:prstGeom>
          <a:solidFill>
            <a:srgbClr val="1E331E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1645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DE80"/>
                </a:solidFill>
                <a:latin typeface="맑은 고딕"/>
              </a:defRPr>
            </a:pPr>
            <a:r>
              <a:t>🏗  백엔드 서비스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194560"/>
            <a:ext cx="1737360" cy="1371600"/>
          </a:xfrm>
          <a:prstGeom prst="roundRect">
            <a:avLst>
              <a:gd name="adj" fmla="val 5000"/>
            </a:avLst>
          </a:prstGeom>
          <a:solidFill>
            <a:srgbClr val="152815"/>
          </a:solidFill>
          <a:ln w="12700">
            <a:solidFill>
              <a:srgbClr val="4A8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2240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DE80"/>
                </a:solidFill>
                <a:latin typeface="맑은 고딕"/>
              </a:defRPr>
            </a:pPr>
            <a:r>
              <a:t>auth-api :4001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5603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POST /login</a:t>
            </a:r>
            <a:br/>
            <a:r>
              <a:t>POST /refresh</a:t>
            </a:r>
            <a:br/>
            <a:r>
              <a:t>POST /logout</a:t>
            </a:r>
            <a:br/>
            <a:r>
              <a:t>GET  /profile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2194560"/>
            <a:ext cx="1645920" cy="1371600"/>
          </a:xfrm>
          <a:prstGeom prst="roundRect">
            <a:avLst>
              <a:gd name="adj" fmla="val 5000"/>
            </a:avLst>
          </a:prstGeom>
          <a:solidFill>
            <a:srgbClr val="152815"/>
          </a:solidFill>
          <a:ln w="12700">
            <a:solidFill>
              <a:srgbClr val="4A8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DE80"/>
                </a:solidFill>
                <a:latin typeface="맑은 고딕"/>
              </a:defRPr>
            </a:pPr>
            <a:r>
              <a:t>admin-api :4000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5603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마트 CRUD</a:t>
            </a:r>
            <a:br/>
            <a:r>
              <a:t>지점 관리</a:t>
            </a:r>
            <a:br/>
            <a:r>
              <a:t>가맹점 관리</a:t>
            </a:r>
            <a:br/>
            <a:r>
              <a:t>대시보드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840480"/>
            <a:ext cx="1737360" cy="1645920"/>
          </a:xfrm>
          <a:prstGeom prst="roundRect">
            <a:avLst>
              <a:gd name="adj" fmla="val 5000"/>
            </a:avLst>
          </a:prstGeom>
          <a:solidFill>
            <a:srgbClr val="15281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886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맑은 고딕"/>
              </a:defRPr>
            </a:pPr>
            <a:r>
              <a:t>⭐ erp-api :4002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2062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★ 입고확인</a:t>
            </a:r>
            <a:br/>
            <a:r>
              <a:t>  정산 관리</a:t>
            </a:r>
            <a:br/>
            <a:r>
              <a:t>→ Bull Queue</a:t>
            </a:r>
            <a:br/>
            <a:r>
              <a:t>→ WebSocket 알림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3840480"/>
            <a:ext cx="1645920" cy="1645920"/>
          </a:xfrm>
          <a:prstGeom prst="roundRect">
            <a:avLst>
              <a:gd name="adj" fmla="val 5000"/>
            </a:avLst>
          </a:prstGeom>
          <a:solidFill>
            <a:srgbClr val="152815"/>
          </a:solidFill>
          <a:ln w="12700">
            <a:solidFill>
              <a:srgbClr val="4A8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0" y="3886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DE80"/>
                </a:solidFill>
                <a:latin typeface="맑은 고딕"/>
              </a:defRPr>
            </a:pPr>
            <a:r>
              <a:t>engine-api :8000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42062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Python FastAPI</a:t>
            </a:r>
            <a:br/>
            <a:r>
              <a:t>v41 심사</a:t>
            </a:r>
            <a:br/>
            <a:r>
              <a:t>v10 신용점수</a:t>
            </a:r>
            <a:br/>
            <a:r>
              <a:t>듀얼트랙</a:t>
            </a:r>
            <a:br/>
            <a:r>
              <a:t>점포리스크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2103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2103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8BFA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2560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B923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DE80"/>
                </a:solidFill>
                <a:latin typeface="맑은 고딕"/>
              </a:defRPr>
            </a:pPr>
            <a:r>
              <a:t>← ─ ─ ─ ─ ─ ─ ─ ─ ─ ─ ─  WebSocket  ─ ─ ─ ─ ─ ─ ─ ─ ─ ─ ─ 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REST API 통신 규칙  —  이것만 알면 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맑은 고딕"/>
              </a:defRPr>
            </a:pPr>
            <a:r>
              <a:t>📤  프론트 → 백  요청 (Request)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846320"/>
          </a:xfrm>
          <a:prstGeom prst="roundRect">
            <a:avLst>
              <a:gd name="adj" fmla="val 5000"/>
            </a:avLst>
          </a:prstGeom>
          <a:solidFill>
            <a:srgbClr val="1525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맑은 고딕"/>
              </a:defRPr>
            </a:pPr>
            <a:r>
              <a:t>① 메서드 + URL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4937760" cy="4114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>
                <a:solidFill>
                  <a:srgbClr val="CBD5E1"/>
                </a:solidFill>
                <a:latin typeface="Consolas"/>
              </a:defRPr>
            </a:pPr>
            <a:r>
              <a:t>GET /api/receivings?page=1&amp;status=pending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505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맑은 고딕"/>
              </a:defRPr>
            </a:pPr>
            <a:r>
              <a:t>② 헤더 (자동)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70632"/>
            <a:ext cx="4937760" cy="6400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>
                <a:solidFill>
                  <a:srgbClr val="CBD5E1"/>
                </a:solidFill>
                <a:latin typeface="Consolas"/>
              </a:defRPr>
            </a:pPr>
            <a:r>
              <a:t>Authorization: Bearer eyJhbG...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CBD5E1"/>
                </a:solidFill>
                <a:latin typeface="Consolas"/>
              </a:defRPr>
            </a:pPr>
            <a:r>
              <a:t>Content-Type: application/json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5701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맑은 고딕"/>
              </a:defRPr>
            </a:pPr>
            <a:r>
              <a:t>③ 바디 (POST/PATCH만)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77056"/>
            <a:ext cx="4937760" cy="6400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>
                <a:solidFill>
                  <a:srgbClr val="CBD5E1"/>
                </a:solidFill>
                <a:latin typeface="Consolas"/>
              </a:defRPr>
            </a:pPr>
            <a:r>
              <a:t>{ "email": "admin@itadx.com",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CBD5E1"/>
                </a:solidFill>
                <a:latin typeface="Consolas"/>
              </a:defRPr>
            </a:pPr>
            <a:r>
              <a:t>  "password": "password123"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맑은 고딕"/>
              </a:defRPr>
            </a:pPr>
            <a:r>
              <a:t>④ 프론트 코드 (이것만 쓰면 됨)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83480"/>
            <a:ext cx="4937760" cy="11887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// lib/api.ts 의 axios 인스턴스 사용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A78BFA"/>
                </a:solidFill>
                <a:latin typeface="Consolas"/>
              </a:defRPr>
            </a:pPr>
            <a:r>
              <a:t>import api from '@/lib/api';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// GET (조회)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const { data } = await api.get('/receivings', { params });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// POST (생성) / PATCH (수정)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const { data } = await api.post('/auth/login', body);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const { data } = await api.patch(`/receivings/${id}/confirm`);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맑은 고딕"/>
              </a:defRPr>
            </a:pPr>
            <a:r>
              <a:t>📥  백 → 프론트  응답 (Response)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5303520" cy="4846320"/>
          </a:xfrm>
          <a:prstGeom prst="roundRect">
            <a:avLst>
              <a:gd name="adj" fmla="val 5000"/>
            </a:avLst>
          </a:prstGeom>
          <a:solidFill>
            <a:srgbClr val="152B15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00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맑은 고딕"/>
              </a:defRPr>
            </a:pPr>
            <a:r>
              <a:t>✅  성공 응답 (200)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965960"/>
            <a:ext cx="4937760" cy="10972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"success": true,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"data":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FBBF24"/>
                </a:solidFill>
                <a:latin typeface="Consolas"/>
              </a:defRPr>
            </a:pPr>
            <a:r>
              <a:t>    "accessToken": "eyJhbG...",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FBBF24"/>
                </a:solidFill>
                <a:latin typeface="Consolas"/>
              </a:defRPr>
            </a:pPr>
            <a:r>
              <a:t>    "refreshToken": "eyJhbG..."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맑은 고딕"/>
              </a:defRPr>
            </a:pPr>
            <a:r>
              <a:t>📋  목록 응답 (페이지네이션)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566160"/>
            <a:ext cx="4937760" cy="13716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>
                <a:solidFill>
                  <a:srgbClr val="38BDF8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"success": true,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FBBF24"/>
                </a:solidFill>
                <a:latin typeface="Consolas"/>
              </a:defRPr>
            </a:pPr>
            <a:r>
              <a:t>  "data": [ {...}, {...}, ... ],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"meta":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94A3B8"/>
                </a:solidFill>
                <a:latin typeface="Consolas"/>
              </a:defRPr>
            </a:pPr>
            <a:r>
              <a:t>    "page": 1, "limit": 20,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94A3B8"/>
                </a:solidFill>
                <a:latin typeface="Consolas"/>
              </a:defRPr>
            </a:pPr>
            <a:r>
              <a:t>    "total": 45, "totalPages": 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38BDF8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074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맑은 고딕"/>
              </a:defRPr>
            </a:pPr>
            <a:r>
              <a:t>❌  에러 응답 (4xx / 5xx)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5440680"/>
            <a:ext cx="4937760" cy="7315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100">
                <a:solidFill>
                  <a:srgbClr val="F87171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"success": false,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F87171"/>
                </a:solidFill>
                <a:latin typeface="Consolas"/>
              </a:defRPr>
            </a:pPr>
            <a:r>
              <a:t>  "error": { "code": "INVALID_CREDENTIALS",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F87171"/>
                </a:solidFill>
                <a:latin typeface="Consolas"/>
              </a:defRPr>
            </a:pPr>
            <a:r>
              <a:t>             "message": "이메일 또는 비밀번호 오류"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F87171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예시 ①  로그인 — 전체 흐름 + 코드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0" y="3200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20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BD5E1"/>
                </a:solidFill>
                <a:latin typeface="Consolas"/>
              </a:defRPr>
            </a:pPr>
            <a:r>
              <a:t>/api/auth/login</a:t>
            </a:r>
          </a:p>
        </p:txBody>
      </p:sp>
      <p:sp>
        <p:nvSpPr>
          <p:cNvPr id="5" name="Oval 4"/>
          <p:cNvSpPr/>
          <p:nvPr/>
        </p:nvSpPr>
        <p:spPr>
          <a:xfrm>
            <a:off x="1280160" y="109728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맑은 고딕"/>
              </a:defRPr>
            </a:pPr>
            <a:r>
              <a:t>프론트</a:t>
            </a:r>
            <a:br/>
            <a:r>
              <a:t>login/page.tsx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api.post(</a:t>
            </a:r>
            <a:br/>
            <a:r>
              <a:t> '/auth/login',</a:t>
            </a:r>
            <a:br/>
            <a:r>
              <a:t> { email, password }</a:t>
            </a:r>
            <a:br/>
            <a: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1430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4206240" y="109728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78BFA"/>
                </a:solidFill>
                <a:latin typeface="맑은 고딕"/>
              </a:defRPr>
            </a:pPr>
            <a:r>
              <a:t>Next.js</a:t>
            </a:r>
            <a:br/>
            <a:r>
              <a:t>next.config.js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57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rewrite</a:t>
            </a:r>
            <a:br/>
            <a:r>
              <a:t>/api/* → :4003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1430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1097280"/>
            <a:ext cx="411480" cy="4114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923C"/>
                </a:solidFill>
                <a:latin typeface="맑은 고딕"/>
              </a:defRPr>
            </a:pPr>
            <a:r>
              <a:t>Gateway</a:t>
            </a:r>
            <a:br/>
            <a:r>
              <a:t>main.ts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57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/api/auth</a:t>
            </a:r>
            <a:br/>
            <a:r>
              <a:t>→ :4001 프록시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1430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0" y="1097280"/>
            <a:ext cx="411480" cy="4114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DE80"/>
                </a:solidFill>
                <a:latin typeface="맑은 고딕"/>
              </a:defRPr>
            </a:pPr>
            <a:r>
              <a:t>Auth API</a:t>
            </a:r>
            <a:br/>
            <a:r>
              <a:t>auth.controller.ts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057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@Post('login')</a:t>
            </a:r>
            <a:br/>
            <a:r>
              <a:t>validate → bcrypt</a:t>
            </a:r>
            <a:br/>
            <a:r>
              <a:t>→ JWT 발급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맑은 고딕"/>
              </a:defRPr>
            </a:pPr>
            <a:r>
              <a:t>프론트엔드 코드  📂 app/login/page.tsx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337560"/>
            <a:ext cx="5486400" cy="30175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const handleLogin = async () =&gt;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try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  // 1. 로그인 요청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BBF24"/>
                </a:solidFill>
                <a:latin typeface="Consolas"/>
              </a:defRPr>
            </a:pPr>
            <a:r>
              <a:t>    const { data } = await api.post('/auth/login',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BBF24"/>
                </a:solidFill>
                <a:latin typeface="Consolas"/>
              </a:defRPr>
            </a:pPr>
            <a:r>
              <a:t>      email, password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BBF24"/>
                </a:solidFill>
                <a:latin typeface="Consolas"/>
              </a:defRPr>
            </a:pPr>
            <a:r>
              <a:t>    });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  // 2. 토큰 저장 (Zustand)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setTokens(data.data.accessToken,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         data.data.refreshToken);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  // 3. 프로필 조회 (JWT 자동 첨부)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8BDF8"/>
                </a:solidFill>
                <a:latin typeface="Consolas"/>
              </a:defRPr>
            </a:pPr>
            <a:r>
              <a:t>    const profile = await api.get('/auth/profile');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8BDF8"/>
                </a:solidFill>
                <a:latin typeface="Consolas"/>
              </a:defRPr>
            </a:pPr>
            <a:r>
              <a:t>    setUser(profile.data.data);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  // 4. 역할별 리다이렉트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router.push(role === 'bank' ? '/bank/dashboard'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            : role === 'mart' ? '/mart/receiving'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            : '/admin/dashboard');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87171"/>
                </a:solidFill>
                <a:latin typeface="Consolas"/>
              </a:defRPr>
            </a:pPr>
            <a:r>
              <a:t>  } catch (err) { setError('로그인 실패');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맑은 고딕"/>
              </a:defRPr>
            </a:pPr>
            <a:r>
              <a:t>백엔드 코드  📂 auth.controller.ts + service.ts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337560"/>
            <a:ext cx="5486400" cy="30175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// Controller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A78BFA"/>
                </a:solidFill>
                <a:latin typeface="Consolas"/>
              </a:defRPr>
            </a:pPr>
            <a:r>
              <a:t>@Post('login')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async login(@Body() dto: LoginDto)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const tokens = await this.authService.login(dto);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return createResponse(tokens);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}  // → { success: true, data: { accessToken, refreshToken }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// Service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async login(dto: LoginDto)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// 1. 사용자 조회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const user = await this.userRepo.findOne(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{ where: { email: dto.email }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// 2. 비밀번호 검증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BBF24"/>
                </a:solidFill>
                <a:latin typeface="Consolas"/>
              </a:defRPr>
            </a:pPr>
            <a:r>
              <a:t>  const ok = await bcrypt.compare(dto.password,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BBF24"/>
                </a:solidFill>
                <a:latin typeface="Consolas"/>
              </a:defRPr>
            </a:pPr>
            <a:r>
              <a:t>                                  user.passwordHash);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// 3. JWT 발급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8BDF8"/>
                </a:solidFill>
                <a:latin typeface="Consolas"/>
              </a:defRPr>
            </a:pPr>
            <a:r>
              <a:t>  const accessToken = this.jwtService.sign(payload);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8BDF8"/>
                </a:solidFill>
                <a:latin typeface="Consolas"/>
              </a:defRPr>
            </a:pPr>
            <a:r>
              <a:t>  const refreshToken = this.jwtService.sign(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8BDF8"/>
                </a:solidFill>
                <a:latin typeface="Consolas"/>
              </a:defRPr>
            </a:pPr>
            <a:r>
              <a:t>    payload, { expiresIn: '7d' });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return { accessToken, refreshToken };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예시 ②  입고 조회 &amp; ⭐ 입고확인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맑은 고딕"/>
              </a:defRPr>
            </a:pPr>
            <a:r>
              <a:t>📋  입고 목록 조회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960120"/>
            <a:ext cx="914400" cy="301752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6012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BD5E1"/>
                </a:solidFill>
                <a:latin typeface="Consolas"/>
              </a:defRPr>
            </a:pPr>
            <a:r>
              <a:t>/api/receivings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맑은 고딕"/>
              </a:defRPr>
            </a:pPr>
            <a:r>
              <a:t>프론트  📂 hooks/use-receivings.ts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10058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// React Query로 자동 캐싱 + 자동 갱신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const { data } = useQuery({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BBF24"/>
                </a:solidFill>
                <a:latin typeface="Consolas"/>
              </a:defRPr>
            </a:pPr>
            <a:r>
              <a:t>  queryKey: ['receivings', filters],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queryFn: () =&gt; api.get('/receivings', { params: filters })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});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// data.data.data = 입고 목록 배열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// data.data.meta = { page, limit, total, totalPages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맑은 고딕"/>
              </a:defRPr>
            </a:pPr>
            <a:r>
              <a:t>백엔드  📂 receiving.controller.ts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A78BFA"/>
                </a:solidFill>
                <a:latin typeface="Consolas"/>
              </a:defRPr>
            </a:pPr>
            <a:r>
              <a:t>@Get()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A78BFA"/>
                </a:solidFill>
                <a:latin typeface="Consolas"/>
              </a:defRPr>
            </a:pPr>
            <a:r>
              <a:t>@UseGuards(JwtAuthGuard)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async findAll(@Query() query, @CurrentUser() user)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const result = await this.service.findAll(query, user);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return createPaginatedResponse(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result.items, result.total, query.page, query.limit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맑은 고딕"/>
              </a:defRPr>
            </a:pPr>
            <a:r>
              <a:t>⭐  입고확인 (핵심 트리거!)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960120"/>
            <a:ext cx="1188720" cy="301752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96012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BD5E1"/>
                </a:solidFill>
                <a:latin typeface="Consolas"/>
              </a:defRPr>
            </a:pPr>
            <a:r>
              <a:t>/:id/confirm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맑은 고딕"/>
              </a:defRPr>
            </a:pPr>
            <a:r>
              <a:t>프론트  📂 hooks/use-receivings.ts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91640"/>
            <a:ext cx="5486400" cy="10058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// 입고확인 버튼 클릭 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const confirmMutation = useMutation({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mutationFn: (id: string) =&gt;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BBF24"/>
                </a:solidFill>
                <a:latin typeface="Consolas"/>
              </a:defRPr>
            </a:pPr>
            <a:r>
              <a:t>    api.patch(`/receivings/${id}/confirm`),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onSuccess: () =&gt;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queryClient.invalidateQueries(['receivings']);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34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맑은 고딕"/>
              </a:defRPr>
            </a:pPr>
            <a:r>
              <a:t>백엔드  📂 receiving.service.ts  (핵심 비즈니스 로직)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15468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A78BFA"/>
                </a:solidFill>
                <a:latin typeface="Consolas"/>
              </a:defRPr>
            </a:pPr>
            <a:r>
              <a:t>@Patch(':id/confirm')  @UseGuards(JwtAuthGuard)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async confirm(@Param('id') id, @CurrentUser() user)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// 비관적 잠금 + 트랜잭션으로 상태 변경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// → Bull Queue에 신용점수 재산출 작업 추가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// → WebSocket으로 은행에 실시간 알림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return createResponse(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await this.service.confirmReceiving(id, user)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맑은 고딕"/>
              </a:defRPr>
            </a:pPr>
            <a:r>
              <a:t>⭐  입고확인 클릭 후 일어나는 일 (시스템 핵심 흐름)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006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27344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2920" y="466344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920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맑은 고딕"/>
              </a:defRPr>
            </a:pPr>
            <a:r>
              <a:t>입고확인</a:t>
            </a:r>
            <a:br/>
            <a:r>
              <a:t>버튼 클릭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983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48006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27344A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88920" y="4663440"/>
            <a:ext cx="365760" cy="36576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8920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맑은 고딕"/>
              </a:defRPr>
            </a:pPr>
            <a:r>
              <a:t>비관적 잠금</a:t>
            </a:r>
            <a:br/>
            <a:r>
              <a:t>상태→confirmed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983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48006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27344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74920" y="4663440"/>
            <a:ext cx="365760" cy="3657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8920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78BFA"/>
                </a:solidFill>
                <a:latin typeface="맑은 고딕"/>
              </a:defRPr>
            </a:pPr>
            <a:r>
              <a:t>Bull Queue</a:t>
            </a:r>
            <a:br/>
            <a:r>
              <a:t>신용점수 재산출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983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48006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27344A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60920" y="4663440"/>
            <a:ext cx="365760" cy="3657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8920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DE80"/>
                </a:solidFill>
                <a:latin typeface="맑은 고딕"/>
              </a:defRPr>
            </a:pPr>
            <a:r>
              <a:t>WebSocket</a:t>
            </a:r>
            <a:br/>
            <a:r>
              <a:t>은행 실시간 알림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983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48006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27344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46920" y="4663440"/>
            <a:ext cx="365760" cy="3657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48920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  <a:latin typeface="맑은 고딕"/>
              </a:defRPr>
            </a:pPr>
            <a:r>
              <a:t>프론트 캐시</a:t>
            </a:r>
            <a:br/>
            <a:r>
              <a:t>무효화→화면갱신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WebSocket 통신  —  백엔드 → 프론트  실시간 알림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백엔드에서 이벤트를 보내면, 프론트는 해당 데이터 캐시만 무효화 → 화면이 자동 갱신됩니다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맑은 고딕"/>
              </a:defRPr>
            </a:pPr>
            <a:r>
              <a:t>실시간 알림 흐름도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7344A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920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923C"/>
                </a:solidFill>
                <a:latin typeface="맑은 고딕"/>
              </a:defRPr>
            </a:pPr>
            <a:r>
              <a:t>erp-api</a:t>
            </a:r>
            <a:br/>
            <a:r>
              <a:t>입고확인 완료!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6060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onsolas"/>
              </a:defRPr>
            </a:pPr>
            <a:r>
              <a:t>📂 receiving</a:t>
            </a:r>
            <a:br/>
            <a:r>
              <a:t>.service.ts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148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82880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7344A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920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DE80"/>
                </a:solidFill>
                <a:latin typeface="맑은 고딕"/>
              </a:defRPr>
            </a:pPr>
            <a:r>
              <a:t>NotificationGateway</a:t>
            </a:r>
            <a:br/>
            <a:r>
              <a:t>notifyBank(event, data)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6060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onsolas"/>
              </a:defRPr>
            </a:pPr>
            <a:r>
              <a:t>📂 notification</a:t>
            </a:r>
            <a:br/>
            <a:r>
              <a:t>.gateway.ts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48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82880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7344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920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78BFA"/>
                </a:solidFill>
                <a:latin typeface="맑은 고딕"/>
              </a:defRPr>
            </a:pPr>
            <a:r>
              <a:t>Socket.IO</a:t>
            </a:r>
            <a:br/>
            <a:r>
              <a:t>'bank' room 전송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6060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onsolas"/>
              </a:defRPr>
            </a:pPr>
            <a:r>
              <a:t>server.to('bank')</a:t>
            </a:r>
            <a:br/>
            <a:r>
              <a:t>.emit(event, data)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48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82880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7344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920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맑은 고딕"/>
              </a:defRPr>
            </a:pPr>
            <a:r>
              <a:t>프론트</a:t>
            </a:r>
            <a:br/>
            <a:r>
              <a:t>socket.on(event)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6060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onsolas"/>
              </a:defRPr>
            </a:pPr>
            <a:r>
              <a:t>📂 hooks/</a:t>
            </a:r>
            <a:br/>
            <a:r>
              <a:t>use-socket.ts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148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182880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7344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920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맑은 고딕"/>
              </a:defRPr>
            </a:pPr>
            <a:r>
              <a:t>React Query</a:t>
            </a:r>
            <a:br/>
            <a:r>
              <a:t>캐시 무효화→갱신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6060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onsolas"/>
              </a:defRPr>
            </a:pPr>
            <a:r>
              <a:t>invalidateQueries</a:t>
            </a:r>
            <a:br/>
            <a:r>
              <a:t>(['receivings'])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맑은 고딕"/>
              </a:defRPr>
            </a:pPr>
            <a:r>
              <a:t>백엔드 — 이벤트 보내기  📂 notification.gateway.ts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404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A78BFA"/>
                </a:solidFill>
                <a:latin typeface="Consolas"/>
              </a:defRPr>
            </a:pPr>
            <a:r>
              <a:t>@WebSocketGateway({ cors: true })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export class NotificationGateway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@WebSocketServer() server: Server;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// 연결 시 role 기반으로 room 분리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handleConnection(client)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const role = verifyJwt(token).role;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BBF24"/>
                </a:solidFill>
                <a:latin typeface="Consolas"/>
              </a:defRPr>
            </a:pPr>
            <a:r>
              <a:t>    client.join(role); // 'bank', 'mart', 'admin'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// 은행에게만 이벤트 전송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notifyBank(event: string, data: unknown)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this.server.to('bank').emit(event, data);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429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맑은 고딕"/>
              </a:defRPr>
            </a:pPr>
            <a:r>
              <a:t>프론트 — 이벤트 듣기  📂 hooks/use-socket.ts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8404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A78BFA"/>
                </a:solidFill>
                <a:latin typeface="Consolas"/>
              </a:defRPr>
            </a:pPr>
            <a:r>
              <a:t>import { getSocket } from '@/lib/socket';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A78BFA"/>
                </a:solidFill>
                <a:latin typeface="Consolas"/>
              </a:defRPr>
            </a:pPr>
            <a:r>
              <a:t>import { useQueryClient } from '@tanstack/react-query';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export function useSocket()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const queryClient = useQueryClient();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const socket = getSocket();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// 이벤트 이름에 맞춰 캐시 무효화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socket.on('receiving:confirmed', () =&gt;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BBF24"/>
                </a:solidFill>
                <a:latin typeface="Consolas"/>
              </a:defRPr>
            </a:pPr>
            <a:r>
              <a:t>    queryClient.invalidateQueries(['receivings']);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BBF24"/>
                </a:solidFill>
                <a:latin typeface="Consolas"/>
              </a:defRPr>
            </a:pPr>
            <a:r>
              <a:t>    queryClient.invalidateQueries(['dashboard']);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});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socket.on('credit:score-updated', () =&gt;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BBF24"/>
                </a:solidFill>
                <a:latin typeface="Consolas"/>
              </a:defRPr>
            </a:pPr>
            <a:r>
              <a:t>    queryClient.invalidateQueries(['merchants']);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});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52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맑은 고딕"/>
              </a:defRPr>
            </a:pPr>
            <a:r>
              <a:t>📌  이벤트 ↔ 무효화 데이터 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72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맑은 고딕"/>
              </a:defRPr>
            </a:pPr>
            <a:r>
              <a:t>이벤트 이름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172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맑은 고딕"/>
              </a:defRPr>
            </a:pPr>
            <a:r>
              <a:t>누가 보냄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6172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맑은 고딕"/>
              </a:defRPr>
            </a:pPr>
            <a:r>
              <a:t>프론트에서 무효화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6172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맑은 고딕"/>
              </a:defRPr>
            </a:pPr>
            <a:r>
              <a:t>화면 갱신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receiving:confirmed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6446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erp-api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6446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receivings,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6446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입고목록, 대시보드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7208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credit:score-updated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6720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engine (via erp)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67208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merchants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67208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가맹점 목록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995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risk:level-changed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6995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engine (via erp)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6995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marts, branches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6995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마트, 지점 현황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JSON 형식 정리  —  요청 &amp; 응답 규격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모든 API가 이 형식을 따릅니다. 새 API를 만들 때도 같은 형식으로 만들면 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맑은 고딕"/>
              </a:defRPr>
            </a:pPr>
            <a:r>
              <a:t>📤  요청 형식 (프론트 → 백)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맑은 고딕"/>
              </a:defRPr>
            </a:pPr>
            <a:r>
              <a:t>GET 요청 — URL query로 조건 전달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5486400" cy="7772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FBBF24"/>
                </a:solidFill>
                <a:latin typeface="Consolas"/>
              </a:defRPr>
            </a:pPr>
            <a:r>
              <a:t>GET /api/receivings?martId=uuid&amp;status=pending&amp;page=1&amp;limit=20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Headers: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8BDF8"/>
                </a:solidFill>
                <a:latin typeface="Consolas"/>
              </a:defRPr>
            </a:pPr>
            <a:r>
              <a:t>  Authorization: Bearer eyJhbGciOiJIUzI1NiIs...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Content-Type: application/json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Body: 없음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맑은 고딕"/>
              </a:defRPr>
            </a:pPr>
            <a:r>
              <a:t>POST 요청 — Body에 JSON 데이터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5486400" cy="10058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FBBF24"/>
                </a:solidFill>
                <a:latin typeface="Consolas"/>
              </a:defRPr>
            </a:pPr>
            <a:r>
              <a:t>POST /api/auth/login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Headers: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Content-Type: application/json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Body: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"email": "admin@itadx.com",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"password": "password123"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맑은 고딕"/>
              </a:defRPr>
            </a:pPr>
            <a:r>
              <a:t>PATCH 요청 — URL에 ID, Body 선택적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754880"/>
            <a:ext cx="5486400" cy="5943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FBBF24"/>
                </a:solidFill>
                <a:latin typeface="Consolas"/>
              </a:defRPr>
            </a:pPr>
            <a:r>
              <a:t>PATCH /api/receivings/uuid-123/confirm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Headers: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8BDF8"/>
                </a:solidFill>
                <a:latin typeface="Consolas"/>
              </a:defRPr>
            </a:pPr>
            <a:r>
              <a:t>  Authorization: Bearer eyJhbGciOiJIUzI1NiIs...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Body: 없음 (또는 수정할 필드만)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맑은 고딕"/>
              </a:defRPr>
            </a:pPr>
            <a:r>
              <a:t>📥  응답 형식 (백 → 프론트)  — 3가지만 있음!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맑은 고딕"/>
              </a:defRPr>
            </a:pPr>
            <a:r>
              <a:t>① 단일 객체 응답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057400"/>
            <a:ext cx="5486400" cy="685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{ "success": true,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BBF24"/>
                </a:solidFill>
                <a:latin typeface="Consolas"/>
              </a:defRPr>
            </a:pPr>
            <a:r>
              <a:t>  "data": {                    ← 항상 여기에 결과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"accessToken": "...", "refreshToken": "..."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880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맑은 고딕"/>
              </a:defRPr>
            </a:pPr>
            <a:r>
              <a:t>② 목록 + 페이지네이션 응답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200400"/>
            <a:ext cx="5486400" cy="10058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{ "success": true,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BBF24"/>
                </a:solidFill>
                <a:latin typeface="Consolas"/>
              </a:defRPr>
            </a:pPr>
            <a:r>
              <a:t>  "data": [                    ← 배열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{ "id": "...", "status": "pending", ... },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{ "id": "...", "status": "confirmed", ...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],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8BDF8"/>
                </a:solidFill>
                <a:latin typeface="Consolas"/>
              </a:defRPr>
            </a:pPr>
            <a:r>
              <a:t>  "meta": {                    ← 페이지 정보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8BDF8"/>
                </a:solidFill>
                <a:latin typeface="Consolas"/>
              </a:defRPr>
            </a:pPr>
            <a:r>
              <a:t>    "page": 1, "limit": 20, "total": 45, "totalPages": 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343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맑은 고딕"/>
              </a:defRPr>
            </a:pPr>
            <a:r>
              <a:t>③ 에러 응답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663440"/>
            <a:ext cx="5486400" cy="685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{ "success": false,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87171"/>
                </a:solidFill>
                <a:latin typeface="Consolas"/>
              </a:defRPr>
            </a:pPr>
            <a:r>
              <a:t>  "error":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87171"/>
                </a:solidFill>
                <a:latin typeface="Consolas"/>
              </a:defRPr>
            </a:pPr>
            <a:r>
              <a:t>    "code": "INVALID_CREDENTIALS",    ← 에러 코드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87171"/>
                </a:solidFill>
                <a:latin typeface="Consolas"/>
              </a:defRPr>
            </a:pPr>
            <a:r>
              <a:t>    "message": "비밀번호가 올바르지 않습니다"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87171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맑은 고딕"/>
              </a:defRPr>
            </a:pPr>
            <a:r>
              <a:t>💡  백엔드: createResponse(data) / createPaginatedResponse(items, total, page, limit)  쓰면 위 형식이 자동 적용됩니다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맑은 고딕"/>
              </a:defRPr>
            </a:pPr>
            <a:r>
              <a:t>💡  프론트: data.data (단일/목록) / data.meta (페이지) / data.error (에러) 로 접근하면 됩니다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JWT 인증 흐름  —  토큰 자동 관리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27344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96012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맑은 고딕"/>
              </a:defRPr>
            </a:pPr>
            <a:r>
              <a:t>로그인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002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POST /auth/login</a:t>
            </a:r>
            <a:br/>
            <a:r>
              <a:t>→ accessToken (15분)</a:t>
            </a:r>
            <a:br/>
            <a:r>
              <a:t>→ refreshToken (7일)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645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09728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27344A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697480" y="960120"/>
            <a:ext cx="365760" cy="3657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234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맑은 고딕"/>
              </a:defRPr>
            </a:pPr>
            <a:r>
              <a:t>저장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6002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Zustand persist</a:t>
            </a:r>
            <a:br/>
            <a:r>
              <a:t>localStorage 저장</a:t>
            </a:r>
            <a:br/>
            <a:r>
              <a:t>→ 새로고침해도 유지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09728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27344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74920" y="960120"/>
            <a:ext cx="365760" cy="3657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234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맑은 고딕"/>
              </a:defRPr>
            </a:pPr>
            <a:r>
              <a:t>요청마다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6002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api interceptor가</a:t>
            </a:r>
            <a:br/>
            <a:r>
              <a:t>Authorization: Bearer ...</a:t>
            </a:r>
            <a:br/>
            <a:r>
              <a:t>헤더 자동 첨부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645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09728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27344A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52360" y="960120"/>
            <a:ext cx="365760" cy="36576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234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  <a:latin typeface="맑은 고딕"/>
              </a:defRPr>
            </a:pPr>
            <a:r>
              <a:t>만료 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6002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401 받으면 자동으로</a:t>
            </a:r>
            <a:br/>
            <a:r>
              <a:t>POST /auth/refresh</a:t>
            </a:r>
            <a:br/>
            <a:r>
              <a:t>→ 새 accessToken 발급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645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109728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27344A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29800" y="960120"/>
            <a:ext cx="365760" cy="36576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1234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7171"/>
                </a:solidFill>
                <a:latin typeface="맑은 고딕"/>
              </a:defRPr>
            </a:pPr>
            <a:r>
              <a:t>갱신 실패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002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refreshToken도 만료</a:t>
            </a:r>
            <a:br/>
            <a:r>
              <a:t>→ 로그아웃 처리</a:t>
            </a:r>
            <a:br/>
            <a:r>
              <a:t>→ /login 리다이렉트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맑은 고딕"/>
              </a:defRPr>
            </a:pPr>
            <a:r>
              <a:t>프론트 — JWT 자동 관리 코드  📂 lib/api.ts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611880"/>
            <a:ext cx="5486400" cy="25603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// 요청 인터셉터: 매 요청에 JWT 자동 첨부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api.interceptors.request.use((config) =&gt;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const token = useAuthStore.getState().accessToken;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if (token)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BBF24"/>
                </a:solidFill>
                <a:latin typeface="Consolas"/>
              </a:defRPr>
            </a:pPr>
            <a:r>
              <a:t>    config.headers.Authorization = `Bearer ${token}`;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return config;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});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// 응답 인터셉터: 401 시 자동 토큰 갱신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api.interceptors.response.use(res =&gt; res, async (err) =&gt;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if (err.response?.status === 401 &amp;&amp; !original._retry)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const { data } = await axios.post(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  '/api/auth/refresh', { refreshToken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  // 새 토큰으로 원래 요청 재시도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8BDF8"/>
                </a:solidFill>
                <a:latin typeface="Consolas"/>
              </a:defRPr>
            </a:pPr>
            <a:r>
              <a:t>    return api(original);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// 갱신도 실패하면 → 로그아웃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87171"/>
                </a:solidFill>
                <a:latin typeface="Consolas"/>
              </a:defRPr>
            </a:pPr>
            <a:r>
              <a:t>  useAuthStore.getState().logout();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맑은 고딕"/>
              </a:defRPr>
            </a:pPr>
            <a:r>
              <a:t>백엔드 — 인증 보호 적용 방법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61188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// 인증이 필요한 API에 데코레이터만 붙이면 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BBF24"/>
                </a:solidFill>
                <a:latin typeface="Consolas"/>
              </a:defRPr>
            </a:pPr>
            <a:r>
              <a:t>@UseGuards(JwtAuthGuard)       ← 이것만 붙이면 인증 체크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A78BFA"/>
                </a:solidFill>
                <a:latin typeface="Consolas"/>
              </a:defRPr>
            </a:pPr>
            <a:r>
              <a:t>@Get()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async findAll(@CurrentUser() user: UserPayload)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// user.sub  = 사용자 ID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// user.role = 'bank' | 'mart' | 'admin'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// user.martId = 마트 ID (mart만 있음)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return this.service.findAll(user);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074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맑은 고딕"/>
              </a:defRPr>
            </a:pPr>
            <a:r>
              <a:t>JWT Payload 구조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5394960"/>
            <a:ext cx="5486400" cy="7772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"sub": "user-uuid",         // 사용자 ID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"email": "admin@itadx.com", // 이메일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BBF24"/>
                </a:solidFill>
                <a:latin typeface="Consolas"/>
              </a:defRPr>
            </a:pPr>
            <a:r>
              <a:t>  "role": "admin",            // bank | mart | admin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8BDF8"/>
                </a:solidFill>
                <a:latin typeface="Consolas"/>
              </a:defRPr>
            </a:pPr>
            <a:r>
              <a:t>  "martId": null,             // 마트 소속 (mart만)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"exp": 1772108265           // 만료시각 (15분 후)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API 라우트 전체 목록  —  Gateway 경로 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맑은 고딕"/>
              </a:defRPr>
            </a:pPr>
            <a:r>
              <a:t>🔐  Auth API  :4001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맑은 고딕"/>
              </a:defRPr>
            </a:pPr>
            <a:r>
              <a:t>메서드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371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맑은 고딕"/>
              </a:defRPr>
            </a:pPr>
            <a:r>
              <a:t>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371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371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맑은 고딕"/>
              </a:defRPr>
            </a:pPr>
            <a:r>
              <a:t>인증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923C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2763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/api/auth/login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6276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로그인 (토큰 발급)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62763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379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923C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3794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/api/auth/refresh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18379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토큰 갱신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83794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0482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923C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04825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/api/auth/logout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0482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로그아웃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04825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2585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25856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/api/auth/profile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22585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내 프로필 조회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22585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맑은 고딕"/>
              </a:defRPr>
            </a:pPr>
            <a:r>
              <a:t>🏢  Admin API  :4000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108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맑은 고딕"/>
              </a:defRPr>
            </a:pPr>
            <a:r>
              <a:t>메서드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108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맑은 고딕"/>
              </a:defRPr>
            </a:pPr>
            <a:r>
              <a:t>URL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108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3649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3649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/api/marts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3649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마트 목록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57530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35753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/api/marts/:id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57530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마트 상세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856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378561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/api/branches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378561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지점 목록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9592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39959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/api/merchants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399592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가맹점 목록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06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42062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/api/dashboard/summary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42062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대시보드 요약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4165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4165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/api/users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441655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사용자 목록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맑은 고딕"/>
              </a:defRPr>
            </a:pPr>
            <a:r>
              <a:t>⭐  ERP API  :4002  (핵심)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13716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맑은 고딕"/>
              </a:defRPr>
            </a:pPr>
            <a:r>
              <a:t>메서드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13716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맑은 고딕"/>
              </a:defRPr>
            </a:pPr>
            <a:r>
              <a:t>URL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9840" y="1371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16276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162763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/api/receivings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16276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입고 목록 (필터+페이지)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18379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183794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/api/receivings/:id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49840" y="18379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입고 상세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20482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78BFA"/>
                </a:solidFill>
                <a:latin typeface="Consolas"/>
              </a:defRPr>
            </a:pPr>
            <a:r>
              <a:t>PATCH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0" y="204825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/api/receivings/:id/confirm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49840" y="20482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⭐ 입고확인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0" y="22585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0" y="225856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/api/settlements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49840" y="22585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정산 목록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0" y="24688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3760" y="24688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/api/settlements/:id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9840" y="24688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정산 상세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0" y="2743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맑은 고딕"/>
              </a:defRPr>
            </a:pPr>
            <a:r>
              <a:t>🧠  Engine API  :8000  (Python)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9360" y="3108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맑은 고딕"/>
              </a:defRPr>
            </a:pPr>
            <a:r>
              <a:t>메서드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3760" y="31089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맑은 고딕"/>
              </a:defRPr>
            </a:pPr>
            <a:r>
              <a:t>URL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3108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9360" y="33649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923C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0" y="336499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/api/v41/screen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49840" y="33649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v41 심사 실행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9360" y="357530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923C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23760" y="357530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/api/v10/score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49840" y="35753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v10 신용점수 산출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09360" y="37856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923C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23760" y="378561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/api/dual-track/assess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49840" y="378561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듀얼트랙 리스크 평가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9360" y="399592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23760" y="399592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/api/branch-risk/:martId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49840" y="39959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점포 리스크 조회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48640" y="5029200"/>
            <a:ext cx="11155680" cy="1371600"/>
          </a:xfrm>
          <a:prstGeom prst="roundRect">
            <a:avLst>
              <a:gd name="adj" fmla="val 5000"/>
            </a:avLst>
          </a:prstGeom>
          <a:solidFill>
            <a:srgbClr val="1A2A1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5120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맑은 고딕"/>
              </a:defRPr>
            </a:pPr>
            <a:r>
              <a:t>💡  Gateway 라우팅 규칙  (gateway-api/main.ts)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5440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/api/auth        →  auth-api   (localhost:4001)    인증 관련</a:t>
            </a:r>
            <a:br/>
            <a:r>
              <a:t>/api/marts, /api/branches, /api/merchants, /api/dashboard, /api/users  →  admin-api (localhost:4000)</a:t>
            </a:r>
            <a:br/>
            <a:r>
              <a:t>/api/receivings, /api/settlements  →  erp-api   (localhost:4002)    입고/정산 (핵심)</a:t>
            </a:r>
            <a:br/>
            <a:r>
              <a:t>/api/v41, /api/v10, /api/dual-track, /api/branch-risk  →  engine-api (localhost:8000)  AI엔진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개발자 체크리스트  —  이것만 기억하세요!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5486400" cy="5303520"/>
          </a:xfrm>
          <a:prstGeom prst="roundRect">
            <a:avLst>
              <a:gd name="adj" fmla="val 5000"/>
            </a:avLst>
          </a:prstGeom>
          <a:solidFill>
            <a:srgbClr val="1525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맑은 고딕"/>
              </a:defRPr>
            </a:pPr>
            <a:r>
              <a:t>🖥  프론트엔드 개발자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✅  api.get / api.post / api.patch 만 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→ JWT, 에러처리 다 자동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✅  URL은 /api 빼고 경로만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api.get('/receivings')  api.post('/auth/login')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✅  응답은 항상 data.data 로 접근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성공: data.data  목록: data.meta  에러: data.error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✅  React Query로 캐싱 + 자동 갱신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queryKey 잘 정하면 WebSocket에서 알아서 무효화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✅  인증 상태는 Zustand auth-store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setTokens() → setUser() → router.push()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✅  WebSocket은 use-socket.ts만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이벤트 수신 → invalidateQueries → 화면 자동 갱신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005840"/>
            <a:ext cx="5486400" cy="5303520"/>
          </a:xfrm>
          <a:prstGeom prst="roundRect">
            <a:avLst>
              <a:gd name="adj" fmla="val 5000"/>
            </a:avLst>
          </a:prstGeom>
          <a:solidFill>
            <a:srgbClr val="152B15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097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ADE80"/>
                </a:solidFill>
                <a:latin typeface="맑은 고딕"/>
              </a:defRPr>
            </a:pPr>
            <a:r>
              <a:t>🏗  백엔드 개발자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54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✅  응답은 createResponse(data) 사용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8288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→ { success: true, data: ... } 자동 래핑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148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✅  목록은 createPaginatedResponse()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4231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→ data + meta(page, limit, total, totalPages)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432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✅  에러는 BusinessException + ErrorCodes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0175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throw new BusinessException(code, message, status)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337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✅  인증은 @UseGuards(JwtAuthGuard)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→ @CurrentUser() 로 사용자 정보 바로 접근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931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✅  감사로그는 @Auditable 데코레이터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2062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중요 변경사항 자동 기록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26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✅  WebSocket은 NotificationGateway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006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notifyBank / notifyMart / notifyAll 사용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  <a:latin typeface="맑은 고딕"/>
              </a:defRPr>
            </a:pPr>
            <a:r>
              <a:t>📂 핵심 파일:  lib/api.ts  |  next.config.js  |  gateway-api/main.ts  |  auth.controller.ts  |  receiving.controller.ts  |  notification.gateway.ts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